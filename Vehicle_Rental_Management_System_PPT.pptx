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2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howSpecialPlsOnTitleSld="0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6600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587" autoAdjust="0"/>
    <p:restoredTop sz="94624" autoAdjust="0"/>
  </p:normalViewPr>
  <p:slideViewPr>
    <p:cSldViewPr showGuides="1">
      <p:cViewPr varScale="1">
        <p:scale>
          <a:sx n="78" d="100"/>
          <a:sy n="78" d="100"/>
        </p:scale>
        <p:origin x="854" y="77"/>
      </p:cViewPr>
      <p:guideLst>
        <p:guide orient="horz" pos="2160"/>
        <p:guide pos="3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tableStyles" Target="tableStyles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40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048841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42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hf dt="0" ftr="0" hdr="0" sldNum="1"/>
</p:handoutMaster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07:59:23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3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04883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3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3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hf dt="0" ftr="0" hdr="0" sldNum="1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dirty="0"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pic>
        <p:nvPicPr>
          <p:cNvPr id="2097152" name="Picture 3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indent="0" marL="457200">
              <a:buNone/>
            </a:lvl2pPr>
            <a:lvl3pPr indent="0" marL="914400">
              <a:buNone/>
            </a:lvl3pPr>
            <a:lvl4pPr indent="0" marL="1371600">
              <a:buNone/>
            </a:lvl4pPr>
            <a:lvl5pPr indent="0" marL="1828800">
              <a:buNone/>
            </a:lvl5pPr>
          </a:lstStyle>
          <a:p>
            <a:pPr lvl="0"/>
            <a:r>
              <a:rPr dirty="0" lang="en-US"/>
              <a:t>Click to edit Master text styles</a:t>
            </a:r>
          </a:p>
        </p:txBody>
      </p:sp>
      <p:sp>
        <p:nvSpPr>
          <p:cNvPr id="104883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01-10-2026</a:t>
            </a:fld>
            <a:endParaRPr dirty="0" lang="en-US"/>
          </a:p>
        </p:txBody>
      </p:sp>
      <p:sp>
        <p:nvSpPr>
          <p:cNvPr id="104883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dirty="0" lang="en-US"/>
              <a:t>Course Name                                                                Faculty Name, Designation, Dept.</a:t>
            </a:r>
          </a:p>
        </p:txBody>
      </p:sp>
      <p:pic>
        <p:nvPicPr>
          <p:cNvPr id="2097191" name="Picture 2"/>
          <p:cNvPicPr>
            <a:picLocks noChangeAspect="1" noChangeArrowheads="1"/>
          </p:cNvPicPr>
          <p:nvPr userDrawn="1"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/>
          <a:noFill/>
        </p:spPr>
      </p:pic>
      <p:sp>
        <p:nvSpPr>
          <p:cNvPr id="104883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"/>
          <p:cNvPicPr>
            <a:picLocks noChangeAspect="1" noChangeArrowheads="1"/>
          </p:cNvPicPr>
          <p:nvPr userDrawn="1"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/>
          <a:noFill/>
        </p:spPr>
      </p:pic>
      <p:sp>
        <p:nvSpPr>
          <p:cNvPr id="1048587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01-10-2026</a:t>
            </a:fld>
            <a:endParaRPr dirty="0" lang="en-US"/>
          </a:p>
        </p:txBody>
      </p:sp>
      <p:sp>
        <p:nvSpPr>
          <p:cNvPr id="1048588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dirty="0" lang="en-US"/>
              <a:t>DBMS                                                                K </a:t>
            </a:r>
            <a:r>
              <a:rPr dirty="0" lang="en-US" err="1"/>
              <a:t>Vydehi</a:t>
            </a:r>
            <a:r>
              <a:rPr dirty="0" lang="en-US"/>
              <a:t>, </a:t>
            </a:r>
            <a:r>
              <a:rPr dirty="0" lang="en-US" err="1"/>
              <a:t>Asst</a:t>
            </a:r>
            <a:r>
              <a:rPr dirty="0" lang="en-US"/>
              <a:t> Professor, CSE Dept.</a:t>
            </a:r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01-10-2026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</p:sldLayoutIdLst>
  <p:hf dt="1" ftr="1" hdr="0" sldNum="1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ustomXml" Target="../ink/ink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ctrTitle"/>
          </p:nvPr>
        </p:nvSpPr>
        <p:spPr>
          <a:xfrm>
            <a:off x="685800" y="1572768"/>
            <a:ext cx="10698480" cy="2432304"/>
          </a:xfrm>
        </p:spPr>
        <p:txBody>
          <a:bodyPr/>
          <a:p>
            <a:pPr algn="ctr"/>
            <a:r>
              <a:rPr b="0" sz="3700">
                <a:solidFill>
                  <a:srgbClr val="000000"/>
                </a:solidFill>
                <a:latin typeface="Eras Bold ITC"/>
              </a:rPr>
              <a:t>VEHICLE RENTAL MANAGEMENT SYSTEM</a:t>
            </a:r>
          </a:p>
          <a:p>
            <a:pPr algn="ctr"/>
            <a:r>
              <a:rPr b="0" sz="3200">
                <a:solidFill>
                  <a:srgbClr val="C6521E"/>
                </a:solidFill>
                <a:latin typeface="Eras Bold ITC"/>
              </a:rPr>
              <a:t>DBMS CORNERSTONE PROJECT</a:t>
            </a:r>
          </a:p>
        </p:txBody>
      </p:sp>
      <p:sp>
        <p:nvSpPr>
          <p:cNvPr id="1048584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dirty="0" lang="en-IN"/>
              <a:t>  </a:t>
            </a:r>
          </a:p>
        </p:txBody>
      </p:sp>
      <p:sp>
        <p:nvSpPr>
          <p:cNvPr id="1048585" name="TextBox 3"/>
          <p:cNvSpPr txBox="1"/>
          <p:nvPr/>
        </p:nvSpPr>
        <p:spPr>
          <a:xfrm rot="10800000" flipV="1">
            <a:off x="3071664" y="4714691"/>
            <a:ext cx="6048672" cy="1077218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600" lang="en-IN">
                <a:solidFill>
                  <a:schemeClr val="accent5">
                    <a:lumMod val="75000"/>
                  </a:schemeClr>
                </a:solidFill>
              </a:rPr>
              <a:t>G.LAKSHMI GANESH - 25B11CS287</a:t>
            </a:r>
          </a:p>
          <a:p>
            <a:pPr algn="ctr"/>
            <a:r>
              <a:rPr b="1" dirty="0" sz="1600" lang="en-IN">
                <a:solidFill>
                  <a:schemeClr val="accent5">
                    <a:lumMod val="75000"/>
                  </a:schemeClr>
                </a:solidFill>
              </a:rPr>
              <a:t>Y.SIVA SAINATH - 25B11CSA56</a:t>
            </a:r>
          </a:p>
          <a:p>
            <a:pPr algn="ctr"/>
            <a:r>
              <a:rPr b="1" dirty="0" sz="1600" lang="en-IN">
                <a:solidFill>
                  <a:schemeClr val="accent5">
                    <a:lumMod val="75000"/>
                  </a:schemeClr>
                </a:solidFill>
              </a:rPr>
              <a:t>Y.GANESH PAVAN - 25B11CSA57</a:t>
            </a:r>
          </a:p>
          <a:p>
            <a:pPr algn="ctr"/>
            <a:r>
              <a:rPr b="1" dirty="0" sz="1600" lang="en-IN">
                <a:solidFill>
                  <a:schemeClr val="accent5">
                    <a:lumMod val="75000"/>
                  </a:schemeClr>
                </a:solidFill>
              </a:rPr>
              <a:t>P.RAVI SHANKAR - 25B11CSA77</a:t>
            </a:r>
          </a:p>
        </p:txBody>
      </p:sp>
      <p:sp>
        <p:nvSpPr>
          <p:cNvPr id="1048586" name="TextBox 6"/>
          <p:cNvSpPr txBox="1"/>
          <p:nvPr/>
        </p:nvSpPr>
        <p:spPr>
          <a:xfrm>
            <a:off x="5200102" y="4297680"/>
            <a:ext cx="2013763" cy="3581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lang="en-IN">
                <a:solidFill>
                  <a:srgbClr val="FF0000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TEAM</a:t>
            </a:r>
            <a:r>
              <a:rPr b="1" dirty="0" lang="en-IN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b="1" dirty="0" lang="en-IN">
                <a:solidFill>
                  <a:srgbClr val="FF0000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</a:rPr>
              <a:t>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Box 1"/>
          <p:cNvSpPr txBox="1"/>
          <p:nvPr/>
        </p:nvSpPr>
        <p:spPr>
          <a:xfrm>
            <a:off x="813816" y="502920"/>
            <a:ext cx="10561320" cy="4810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3000">
                <a:solidFill>
                  <a:srgbClr val="C6521E"/>
                </a:solidFill>
                <a:latin typeface="Times New Roman"/>
              </a:rPr>
              <a:t>1. Problem Statement</a:t>
            </a:r>
          </a:p>
        </p:txBody>
      </p:sp>
      <p:sp>
        <p:nvSpPr>
          <p:cNvPr id="1048591" name="TextBox 2"/>
          <p:cNvSpPr txBox="1"/>
          <p:nvPr/>
        </p:nvSpPr>
        <p:spPr>
          <a:xfrm>
            <a:off x="868680" y="1508760"/>
            <a:ext cx="10515600" cy="25130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Vehicle rental businesses need to maintain customer, vehicle, booking, payment and return information.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Manual records or separate spreadsheets can cause duplicate bookings, incorrect availability information and data-entry errors.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Finding rental history, payment details and vehicle status can be time-consuming.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A centralized database can make rental operations more accurate, organized and efficient.</a:t>
            </a:r>
          </a:p>
        </p:txBody>
      </p:sp>
      <p:sp>
        <p:nvSpPr>
          <p:cNvPr id="1048592" name="TextBox 4"/>
          <p:cNvSpPr txBox="1"/>
          <p:nvPr/>
        </p:nvSpPr>
        <p:spPr>
          <a:xfrm>
            <a:off x="3657600" y="6281928"/>
            <a:ext cx="109728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593" name="TextBox 5"/>
          <p:cNvSpPr txBox="1"/>
          <p:nvPr/>
        </p:nvSpPr>
        <p:spPr>
          <a:xfrm>
            <a:off x="5486400" y="6281928"/>
            <a:ext cx="365760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594" name="TextBox 6"/>
          <p:cNvSpPr txBox="1"/>
          <p:nvPr/>
        </p:nvSpPr>
        <p:spPr>
          <a:xfrm>
            <a:off x="10287000" y="6355080"/>
            <a:ext cx="731520" cy="176277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extBox 1"/>
          <p:cNvSpPr txBox="1"/>
          <p:nvPr/>
        </p:nvSpPr>
        <p:spPr>
          <a:xfrm>
            <a:off x="813816" y="502920"/>
            <a:ext cx="10561320" cy="4810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3000">
                <a:solidFill>
                  <a:srgbClr val="C6521E"/>
                </a:solidFill>
                <a:latin typeface="Times New Roman"/>
              </a:rPr>
              <a:t>2. Objectives</a:t>
            </a:r>
          </a:p>
        </p:txBody>
      </p:sp>
      <p:sp>
        <p:nvSpPr>
          <p:cNvPr id="1048596" name="TextBox 2"/>
          <p:cNvSpPr txBox="1"/>
          <p:nvPr/>
        </p:nvSpPr>
        <p:spPr>
          <a:xfrm>
            <a:off x="868680" y="1508760"/>
            <a:ext cx="10515600" cy="24368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Maintain accurate customer and vehicle records.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Manage vehicle availability and rental bookings.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Record pickup, return and payment information.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Reduce duplicate records and manual errors.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Provide quick access to rental history and reports.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Improve data consistency, security and overall efficiency.</a:t>
            </a:r>
          </a:p>
        </p:txBody>
      </p:sp>
      <p:sp>
        <p:nvSpPr>
          <p:cNvPr id="1048597" name="TextBox 4"/>
          <p:cNvSpPr txBox="1"/>
          <p:nvPr/>
        </p:nvSpPr>
        <p:spPr>
          <a:xfrm>
            <a:off x="3657600" y="6281928"/>
            <a:ext cx="109728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598" name="TextBox 5"/>
          <p:cNvSpPr txBox="1"/>
          <p:nvPr/>
        </p:nvSpPr>
        <p:spPr>
          <a:xfrm>
            <a:off x="5486400" y="6281928"/>
            <a:ext cx="365760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599" name="TextBox 6"/>
          <p:cNvSpPr txBox="1"/>
          <p:nvPr/>
        </p:nvSpPr>
        <p:spPr>
          <a:xfrm>
            <a:off x="10287000" y="6355080"/>
            <a:ext cx="731520" cy="176277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extBox 1"/>
          <p:cNvSpPr txBox="1"/>
          <p:nvPr/>
        </p:nvSpPr>
        <p:spPr>
          <a:xfrm>
            <a:off x="813816" y="502920"/>
            <a:ext cx="10561320" cy="4810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3000">
                <a:solidFill>
                  <a:srgbClr val="C6521E"/>
                </a:solidFill>
                <a:latin typeface="Times New Roman"/>
              </a:rPr>
              <a:t>3. End Users</a:t>
            </a:r>
          </a:p>
        </p:txBody>
      </p:sp>
      <p:sp>
        <p:nvSpPr>
          <p:cNvPr id="1048601" name="TextBox 2"/>
          <p:cNvSpPr txBox="1"/>
          <p:nvPr/>
        </p:nvSpPr>
        <p:spPr>
          <a:xfrm>
            <a:off x="868680" y="1508760"/>
            <a:ext cx="10515600" cy="14843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Admin – manages vehicles, customers, bookings, payments and reports.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Customer – views available vehicles, makes bookings and checks rental history.</a:t>
            </a:r>
          </a:p>
          <a:p>
            <a:pPr>
              <a:spcAft>
                <a:spcPts val="900"/>
              </a:spcAft>
            </a:pPr>
            <a:r>
              <a:rPr b="0" sz="2100">
                <a:solidFill>
                  <a:srgbClr val="000000"/>
                </a:solidFill>
                <a:latin typeface="Times New Roman"/>
              </a:rPr>
              <a:t>• Staff – verifies documents, handles vehicle pickup and return, and updates vehicle status.</a:t>
            </a:r>
          </a:p>
        </p:txBody>
      </p:sp>
      <p:sp>
        <p:nvSpPr>
          <p:cNvPr id="1048602" name="TextBox 4"/>
          <p:cNvSpPr txBox="1"/>
          <p:nvPr/>
        </p:nvSpPr>
        <p:spPr>
          <a:xfrm>
            <a:off x="3657600" y="6281928"/>
            <a:ext cx="109728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603" name="TextBox 5"/>
          <p:cNvSpPr txBox="1"/>
          <p:nvPr/>
        </p:nvSpPr>
        <p:spPr>
          <a:xfrm>
            <a:off x="5486400" y="6281928"/>
            <a:ext cx="365760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604" name="TextBox 6"/>
          <p:cNvSpPr txBox="1"/>
          <p:nvPr/>
        </p:nvSpPr>
        <p:spPr>
          <a:xfrm>
            <a:off x="10287000" y="6355080"/>
            <a:ext cx="731520" cy="176277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Box 1"/>
          <p:cNvSpPr txBox="1"/>
          <p:nvPr/>
        </p:nvSpPr>
        <p:spPr>
          <a:xfrm>
            <a:off x="813816" y="502920"/>
            <a:ext cx="10561320" cy="4810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3000">
                <a:solidFill>
                  <a:srgbClr val="C6521E"/>
                </a:solidFill>
                <a:latin typeface="Times New Roman"/>
              </a:rPr>
              <a:t>4. Requirements</a:t>
            </a:r>
          </a:p>
        </p:txBody>
      </p:sp>
      <p:sp>
        <p:nvSpPr>
          <p:cNvPr id="1048606" name="TextBox 2"/>
          <p:cNvSpPr txBox="1"/>
          <p:nvPr/>
        </p:nvSpPr>
        <p:spPr>
          <a:xfrm>
            <a:off x="868680" y="1508760"/>
            <a:ext cx="10515600" cy="37449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>
              <a:spcAft>
                <a:spcPts val="900"/>
              </a:spcAft>
            </a:pPr>
            <a:r>
              <a:rPr b="0" sz="1700">
                <a:solidFill>
                  <a:srgbClr val="000000"/>
                </a:solidFill>
                <a:latin typeface="Times New Roman"/>
              </a:rPr>
              <a:t>• Functional Requirements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Admin login and vehicle management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Customer registration and record management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Vehicle search and availability checking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Booking, cancellation and return processing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Payment recording and report generation</a:t>
            </a:r>
          </a:p>
          <a:p>
            <a:pPr>
              <a:spcAft>
                <a:spcPts val="900"/>
              </a:spcAft>
            </a:pPr>
            <a:r>
              <a:rPr b="0" sz="1700">
                <a:solidFill>
                  <a:srgbClr val="000000"/>
                </a:solidFill>
                <a:latin typeface="Times New Roman"/>
              </a:rPr>
              <a:t>• Non-Functional Requirements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Security and authentication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Reliability and data consistency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Fast response time and usability</a:t>
            </a:r>
          </a:p>
          <a:p>
            <a:pPr>
              <a:spcAft>
                <a:spcPts val="900"/>
              </a:spcAft>
            </a:pPr>
            <a:r>
              <a:rPr b="0" sz="1500">
                <a:solidFill>
                  <a:srgbClr val="000000"/>
                </a:solidFill>
                <a:latin typeface="Times New Roman"/>
              </a:rPr>
              <a:t>   – Scalability and backup/recovery</a:t>
            </a:r>
          </a:p>
        </p:txBody>
      </p:sp>
      <p:sp>
        <p:nvSpPr>
          <p:cNvPr id="1048607" name="TextBox 4"/>
          <p:cNvSpPr txBox="1"/>
          <p:nvPr/>
        </p:nvSpPr>
        <p:spPr>
          <a:xfrm>
            <a:off x="3657600" y="6281928"/>
            <a:ext cx="109728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608" name="TextBox 5"/>
          <p:cNvSpPr txBox="1"/>
          <p:nvPr/>
        </p:nvSpPr>
        <p:spPr>
          <a:xfrm>
            <a:off x="5486400" y="6281928"/>
            <a:ext cx="365760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609" name="TextBox 6"/>
          <p:cNvSpPr txBox="1"/>
          <p:nvPr/>
        </p:nvSpPr>
        <p:spPr>
          <a:xfrm>
            <a:off x="10287000" y="6355080"/>
            <a:ext cx="731520" cy="176277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extBox 1"/>
          <p:cNvSpPr txBox="1"/>
          <p:nvPr/>
        </p:nvSpPr>
        <p:spPr>
          <a:xfrm>
            <a:off x="813816" y="502920"/>
            <a:ext cx="10561320" cy="4810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dirty="0" sz="3000">
                <a:solidFill>
                  <a:srgbClr val="C6521E"/>
                </a:solidFill>
                <a:latin typeface="Times New Roman"/>
              </a:rPr>
              <a:t>5. ER Design – Entities &amp; Attributes</a:t>
            </a:r>
          </a:p>
        </p:txBody>
      </p:sp>
      <p:sp>
        <p:nvSpPr>
          <p:cNvPr id="1048611" name="TextBox 2"/>
          <p:cNvSpPr txBox="1"/>
          <p:nvPr/>
        </p:nvSpPr>
        <p:spPr>
          <a:xfrm>
            <a:off x="868680" y="1508760"/>
            <a:ext cx="10515600" cy="25384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>
              <a:spcAft>
                <a:spcPts val="9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• CUSTOMER: Customer_ID (PK), Name, Phone, Email, Address, Driving_License_No.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• VEHICLE: Vehicle_ID (PK), Vehicle_Name, Brand, Model, Registration_Number, Rental_Price_Per_Day, Availability_Status.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• BOOKING: Booking_ID (PK), Booking_Date, Pickup_Date, Return_Date, Booking_Status, Customer_ID (FK), Vehicle_ID (FK).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• PAYMENT: Payment_ID (PK), Payment_Date, Amount, Payment_Method, Payment_Status, Booking_ID (FK).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• RETURN: Return_ID (PK), Return_Date, Fuel_Level, Damage_Charges, Booking_ID (FK).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000000"/>
                </a:solidFill>
                <a:latin typeface="Times New Roman"/>
              </a:rPr>
              <a:t>• ADMIN: Admin_ID (PK), Name, Username, Password, Contact_Number.</a:t>
            </a:r>
          </a:p>
        </p:txBody>
      </p:sp>
      <p:sp>
        <p:nvSpPr>
          <p:cNvPr id="1048612" name="TextBox 4"/>
          <p:cNvSpPr txBox="1"/>
          <p:nvPr/>
        </p:nvSpPr>
        <p:spPr>
          <a:xfrm>
            <a:off x="3657600" y="6281928"/>
            <a:ext cx="109728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613" name="TextBox 5"/>
          <p:cNvSpPr txBox="1"/>
          <p:nvPr/>
        </p:nvSpPr>
        <p:spPr>
          <a:xfrm>
            <a:off x="5486400" y="6281928"/>
            <a:ext cx="365760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614" name="TextBox 6"/>
          <p:cNvSpPr txBox="1"/>
          <p:nvPr/>
        </p:nvSpPr>
        <p:spPr>
          <a:xfrm>
            <a:off x="10287000" y="6355080"/>
            <a:ext cx="731520" cy="176277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">
            <p14:nvContentPartPr>
              <p14:cNvPr id="2097154" name="Ink 34"/>
              <p14:cNvContentPartPr/>
              <p14:nvPr/>
            </p14:nvContentPartPr>
            <p14:xfrm>
              <a:off x="-1295623" y="1523966"/>
              <a:ext cx="360" cy="360"/>
            </p14:xfrm>
          </p:contentPart>
        </mc:Choice>
        <mc:Fallback>
          <p:pic>
            <p:nvPicPr>
              <p:cNvPr id="2097154" name="Ink 34"/>
              <p:cNvPicPr>
                <a:picLocks/>
              </p:cNvPicPr>
              <p:nvPr/>
            </p:nvPicPr>
            <p:blipFill>
              <a:blip xmlns:r="http://schemas.openxmlformats.org/officeDocument/2006/relationships" r:embed="rId2"/>
              <a:stretch>
                <a:fillRect/>
              </a:stretch>
            </p:blipFill>
            <p:spPr>
              <a:xfrm>
                <a:off x="-1295623" y="1523966"/>
                <a:ext cx="360" cy="360"/>
              </a:xfrm>
              <a:prstGeom prst="rect"/>
            </p:spPr>
          </p:pic>
        </mc:Fallback>
      </mc:AlternateContent>
      <p:sp>
        <p:nvSpPr>
          <p:cNvPr id="1048616" name="TextBox 35"/>
          <p:cNvSpPr txBox="1"/>
          <p:nvPr/>
        </p:nvSpPr>
        <p:spPr>
          <a:xfrm>
            <a:off x="4223792" y="353149"/>
            <a:ext cx="3367257" cy="6248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600" lang="en-IN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6.ER DIAGRAM</a:t>
            </a:r>
          </a:p>
        </p:txBody>
      </p:sp>
      <p:pic>
        <p:nvPicPr>
          <p:cNvPr id="2097192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1118898" y="1395049"/>
            <a:ext cx="9954205" cy="4961301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1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8</a:t>
            </a:fld>
            <a:endParaRPr lang="en-US"/>
          </a:p>
        </p:txBody>
      </p:sp>
      <p:sp>
        <p:nvSpPr>
          <p:cNvPr id="1048619" name="TextBox 4"/>
          <p:cNvSpPr txBox="1"/>
          <p:nvPr/>
        </p:nvSpPr>
        <p:spPr>
          <a:xfrm>
            <a:off x="883781" y="1124744"/>
            <a:ext cx="4019718" cy="574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CUSTOMERS TABLE</a:t>
            </a:r>
          </a:p>
        </p:txBody>
      </p:sp>
      <p:pic>
        <p:nvPicPr>
          <p:cNvPr id="209715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06422" y="1844824"/>
            <a:ext cx="4995105" cy="3740342"/>
          </a:xfrm>
          <a:prstGeom prst="rect"/>
        </p:spPr>
      </p:pic>
      <p:sp>
        <p:nvSpPr>
          <p:cNvPr id="1048620" name="TextBox 8"/>
          <p:cNvSpPr txBox="1"/>
          <p:nvPr/>
        </p:nvSpPr>
        <p:spPr>
          <a:xfrm>
            <a:off x="7248128" y="1124743"/>
            <a:ext cx="3644176" cy="5740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BOOKINGS TABLE</a:t>
            </a:r>
          </a:p>
        </p:txBody>
      </p:sp>
      <p:pic>
        <p:nvPicPr>
          <p:cNvPr id="2097157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03712" y="1844824"/>
            <a:ext cx="5181866" cy="3740342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9</a:t>
            </a:fld>
            <a:endParaRPr lang="en-US"/>
          </a:p>
        </p:txBody>
      </p:sp>
      <p:sp>
        <p:nvSpPr>
          <p:cNvPr id="1048623" name="TextBox 4"/>
          <p:cNvSpPr txBox="1"/>
          <p:nvPr/>
        </p:nvSpPr>
        <p:spPr>
          <a:xfrm>
            <a:off x="1141993" y="1124744"/>
            <a:ext cx="3466375" cy="574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VEHICLES TABLE</a:t>
            </a:r>
          </a:p>
        </p:txBody>
      </p:sp>
      <p:pic>
        <p:nvPicPr>
          <p:cNvPr id="2097158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35359" y="2132855"/>
            <a:ext cx="5356531" cy="2880321"/>
          </a:xfrm>
          <a:prstGeom prst="rect"/>
        </p:spPr>
      </p:pic>
      <p:sp>
        <p:nvSpPr>
          <p:cNvPr id="1048624" name="TextBox 7"/>
          <p:cNvSpPr txBox="1"/>
          <p:nvPr/>
        </p:nvSpPr>
        <p:spPr>
          <a:xfrm>
            <a:off x="7725985" y="1124743"/>
            <a:ext cx="3651518" cy="5740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PAYMENTS TABLE</a:t>
            </a:r>
          </a:p>
        </p:txBody>
      </p:sp>
      <p:pic>
        <p:nvPicPr>
          <p:cNvPr id="2097159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6093" y="2132856"/>
            <a:ext cx="5356531" cy="288032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10</a:t>
            </a:fld>
            <a:endParaRPr lang="en-US"/>
          </a:p>
        </p:txBody>
      </p:sp>
      <p:sp>
        <p:nvSpPr>
          <p:cNvPr id="1048627" name="TextBox 4"/>
          <p:cNvSpPr txBox="1"/>
          <p:nvPr/>
        </p:nvSpPr>
        <p:spPr>
          <a:xfrm>
            <a:off x="930360" y="1196752"/>
            <a:ext cx="3412202" cy="5740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RETURNS TABLE</a:t>
            </a:r>
          </a:p>
        </p:txBody>
      </p:sp>
      <p:pic>
        <p:nvPicPr>
          <p:cNvPr id="2097160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8742" y="2177985"/>
            <a:ext cx="4883401" cy="2502029"/>
          </a:xfrm>
          <a:prstGeom prst="rect"/>
        </p:spPr>
      </p:pic>
      <p:sp>
        <p:nvSpPr>
          <p:cNvPr id="1048628" name="TextBox 8"/>
          <p:cNvSpPr txBox="1"/>
          <p:nvPr/>
        </p:nvSpPr>
        <p:spPr>
          <a:xfrm>
            <a:off x="8127472" y="1182530"/>
            <a:ext cx="2844076" cy="574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ADMIN TABLE</a:t>
            </a:r>
          </a:p>
        </p:txBody>
      </p:sp>
      <p:pic>
        <p:nvPicPr>
          <p:cNvPr id="2097161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88088" y="2177985"/>
            <a:ext cx="4536504" cy="2502029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11</a:t>
            </a:fld>
            <a:endParaRPr lang="en-US"/>
          </a:p>
        </p:txBody>
      </p:sp>
      <p:sp>
        <p:nvSpPr>
          <p:cNvPr id="1048631" name="TextBox 4"/>
          <p:cNvSpPr txBox="1"/>
          <p:nvPr/>
        </p:nvSpPr>
        <p:spPr>
          <a:xfrm>
            <a:off x="1127448" y="1052736"/>
            <a:ext cx="4317177" cy="8407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select * from customer</a:t>
            </a:r>
          </a:p>
          <a:p>
            <a:endParaRPr dirty="0" lang="en-IN"/>
          </a:p>
        </p:txBody>
      </p:sp>
      <p:pic>
        <p:nvPicPr>
          <p:cNvPr id="2097162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43361" y="1941834"/>
            <a:ext cx="5258070" cy="3092609"/>
          </a:xfrm>
          <a:prstGeom prst="rect"/>
        </p:spPr>
      </p:pic>
      <p:sp>
        <p:nvSpPr>
          <p:cNvPr id="1048632" name="TextBox 7"/>
          <p:cNvSpPr txBox="1"/>
          <p:nvPr/>
        </p:nvSpPr>
        <p:spPr>
          <a:xfrm>
            <a:off x="7420122" y="1052563"/>
            <a:ext cx="3879572" cy="5740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select * from vehicle</a:t>
            </a:r>
          </a:p>
        </p:txBody>
      </p:sp>
      <p:pic>
        <p:nvPicPr>
          <p:cNvPr id="2097163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456040" y="1914447"/>
            <a:ext cx="5543835" cy="3029106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12</a:t>
            </a:fld>
            <a:endParaRPr lang="en-US"/>
          </a:p>
        </p:txBody>
      </p:sp>
      <p:sp>
        <p:nvSpPr>
          <p:cNvPr id="1048635" name="TextBox 5"/>
          <p:cNvSpPr txBox="1"/>
          <p:nvPr/>
        </p:nvSpPr>
        <p:spPr>
          <a:xfrm>
            <a:off x="839416" y="1196752"/>
            <a:ext cx="6213986" cy="584775"/>
          </a:xfrm>
          <a:prstGeom prst="rect"/>
          <a:noFill/>
        </p:spPr>
        <p:txBody>
          <a:bodyPr wrap="square">
            <a:spAutoFit/>
          </a:bodyPr>
          <a:p>
            <a:r>
              <a:rPr dirty="0" sz="3200" lang="en-IN"/>
              <a:t>select * from admin</a:t>
            </a:r>
          </a:p>
        </p:txBody>
      </p:sp>
      <p:pic>
        <p:nvPicPr>
          <p:cNvPr id="2097164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11424" y="2028317"/>
            <a:ext cx="3448227" cy="3048157"/>
          </a:xfrm>
          <a:prstGeom prst="rect"/>
        </p:spPr>
      </p:pic>
      <p:sp>
        <p:nvSpPr>
          <p:cNvPr id="1048636" name="TextBox 8"/>
          <p:cNvSpPr txBox="1"/>
          <p:nvPr/>
        </p:nvSpPr>
        <p:spPr>
          <a:xfrm>
            <a:off x="6384032" y="1058252"/>
            <a:ext cx="4077365" cy="8407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select * from booking</a:t>
            </a:r>
          </a:p>
          <a:p>
            <a:endParaRPr dirty="0" lang="en-IN"/>
          </a:p>
        </p:txBody>
      </p:sp>
      <p:pic>
        <p:nvPicPr>
          <p:cNvPr id="2097165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83832" y="2007105"/>
            <a:ext cx="7615104" cy="3016405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13</a:t>
            </a:fld>
            <a:endParaRPr lang="en-US"/>
          </a:p>
        </p:txBody>
      </p:sp>
      <p:sp>
        <p:nvSpPr>
          <p:cNvPr id="1048639" name="TextBox 4"/>
          <p:cNvSpPr txBox="1"/>
          <p:nvPr/>
        </p:nvSpPr>
        <p:spPr>
          <a:xfrm>
            <a:off x="669617" y="1196752"/>
            <a:ext cx="4409301" cy="8407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select * from payments</a:t>
            </a:r>
          </a:p>
          <a:p>
            <a:endParaRPr dirty="0" lang="en-IN"/>
          </a:p>
        </p:txBody>
      </p:sp>
      <p:pic>
        <p:nvPicPr>
          <p:cNvPr id="209716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23392" y="2058526"/>
            <a:ext cx="5035809" cy="3086259"/>
          </a:xfrm>
          <a:prstGeom prst="rect"/>
        </p:spPr>
      </p:pic>
      <p:sp>
        <p:nvSpPr>
          <p:cNvPr id="1048640" name="TextBox 7"/>
          <p:cNvSpPr txBox="1"/>
          <p:nvPr/>
        </p:nvSpPr>
        <p:spPr>
          <a:xfrm>
            <a:off x="6744072" y="1195722"/>
            <a:ext cx="5290711" cy="8407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200" lang="en-IN"/>
              <a:t>select * from </a:t>
            </a:r>
            <a:r>
              <a:rPr dirty="0" sz="3200" lang="en-IN" err="1"/>
              <a:t>Return_Record</a:t>
            </a:r>
            <a:endParaRPr dirty="0" sz="3200" lang="en-IN"/>
          </a:p>
          <a:p>
            <a:endParaRPr dirty="0" lang="en-IN"/>
          </a:p>
        </p:txBody>
      </p:sp>
      <p:pic>
        <p:nvPicPr>
          <p:cNvPr id="2097167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535698" y="2048388"/>
            <a:ext cx="5169166" cy="3054507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42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14</a:t>
            </a:fld>
            <a:endParaRPr lang="en-US"/>
          </a:p>
        </p:txBody>
      </p:sp>
      <p:sp>
        <p:nvSpPr>
          <p:cNvPr id="1048643" name="TextBox 4"/>
          <p:cNvSpPr txBox="1"/>
          <p:nvPr/>
        </p:nvSpPr>
        <p:spPr>
          <a:xfrm>
            <a:off x="4655840" y="404664"/>
            <a:ext cx="2348720" cy="707886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4000" lang="en-IN" u="sng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sp>
        <p:nvSpPr>
          <p:cNvPr id="1048644" name="TextBox 6"/>
          <p:cNvSpPr txBox="1"/>
          <p:nvPr/>
        </p:nvSpPr>
        <p:spPr>
          <a:xfrm>
            <a:off x="695400" y="1484784"/>
            <a:ext cx="6213986" cy="461665"/>
          </a:xfrm>
          <a:prstGeom prst="rect"/>
          <a:noFill/>
        </p:spPr>
        <p:txBody>
          <a:bodyPr wrap="square">
            <a:spAutoFit/>
          </a:bodyPr>
          <a:p>
            <a:r>
              <a:rPr dirty="0" sz="2400" lang="en-IN"/>
              <a:t>Query 1: Display all customers</a:t>
            </a:r>
          </a:p>
        </p:txBody>
      </p:sp>
      <p:sp>
        <p:nvSpPr>
          <p:cNvPr id="1048645" name="TextBox 8"/>
          <p:cNvSpPr txBox="1"/>
          <p:nvPr/>
        </p:nvSpPr>
        <p:spPr>
          <a:xfrm>
            <a:off x="695400" y="2132856"/>
            <a:ext cx="6213986" cy="646331"/>
          </a:xfrm>
          <a:prstGeom prst="rect"/>
          <a:noFill/>
        </p:spPr>
        <p:txBody>
          <a:bodyPr wrap="square">
            <a:spAutoFit/>
          </a:bodyPr>
          <a:p>
            <a:r>
              <a:rPr dirty="0" lang="en-IN"/>
              <a:t>SELECT * </a:t>
            </a:r>
          </a:p>
          <a:p>
            <a:r>
              <a:rPr dirty="0" lang="en-IN"/>
              <a:t>FROM Customer;</a:t>
            </a:r>
          </a:p>
        </p:txBody>
      </p:sp>
      <p:pic>
        <p:nvPicPr>
          <p:cNvPr id="2097168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238530" y="1303893"/>
            <a:ext cx="5258070" cy="2304256"/>
          </a:xfrm>
          <a:prstGeom prst="rect"/>
        </p:spPr>
      </p:pic>
      <p:sp>
        <p:nvSpPr>
          <p:cNvPr id="1048646" name="TextBox 11"/>
          <p:cNvSpPr txBox="1"/>
          <p:nvPr/>
        </p:nvSpPr>
        <p:spPr>
          <a:xfrm>
            <a:off x="695400" y="3623851"/>
            <a:ext cx="8281363" cy="4470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Query 2: Find vehicles with rental price greater than ₹2000</a:t>
            </a:r>
          </a:p>
        </p:txBody>
      </p:sp>
      <p:sp>
        <p:nvSpPr>
          <p:cNvPr id="1048647" name="TextBox 12"/>
          <p:cNvSpPr txBox="1"/>
          <p:nvPr/>
        </p:nvSpPr>
        <p:spPr>
          <a:xfrm>
            <a:off x="696503" y="4258813"/>
            <a:ext cx="5983456" cy="8915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SELECT </a:t>
            </a:r>
            <a:r>
              <a:rPr dirty="0" lang="en-US" err="1"/>
              <a:t>Vehicle_ID</a:t>
            </a:r>
            <a:r>
              <a:rPr dirty="0" lang="en-US"/>
              <a:t>, Brand, Model, </a:t>
            </a:r>
            <a:r>
              <a:rPr dirty="0" lang="en-US" err="1"/>
              <a:t>Rental_Price_Per_Day</a:t>
            </a:r>
            <a:endParaRPr dirty="0" lang="en-US"/>
          </a:p>
          <a:p>
            <a:r>
              <a:rPr dirty="0" lang="en-US"/>
              <a:t>FROM Vehicle</a:t>
            </a:r>
          </a:p>
          <a:p>
            <a:r>
              <a:rPr dirty="0" lang="en-US"/>
              <a:t>WHERE </a:t>
            </a:r>
            <a:r>
              <a:rPr dirty="0" lang="en-US" err="1"/>
              <a:t>Rental_Price_Per_Day</a:t>
            </a:r>
            <a:r>
              <a:rPr dirty="0" lang="en-US"/>
              <a:t> &gt; 2000;</a:t>
            </a:r>
            <a:endParaRPr dirty="0" lang="en-IN"/>
          </a:p>
        </p:txBody>
      </p:sp>
      <p:pic>
        <p:nvPicPr>
          <p:cNvPr id="2097169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939433" y="4067469"/>
            <a:ext cx="3873699" cy="1816193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4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15</a:t>
            </a:fld>
            <a:endParaRPr lang="en-US"/>
          </a:p>
        </p:txBody>
      </p:sp>
      <p:sp>
        <p:nvSpPr>
          <p:cNvPr id="1048650" name="TextBox 4"/>
          <p:cNvSpPr txBox="1"/>
          <p:nvPr/>
        </p:nvSpPr>
        <p:spPr>
          <a:xfrm>
            <a:off x="695400" y="1268760"/>
            <a:ext cx="6004292" cy="8026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Query 3: Display confirmed and completed</a:t>
            </a:r>
          </a:p>
          <a:p>
            <a:r>
              <a:rPr dirty="0" sz="2400" lang="en-IN"/>
              <a:t> bookings</a:t>
            </a:r>
          </a:p>
        </p:txBody>
      </p:sp>
      <p:sp>
        <p:nvSpPr>
          <p:cNvPr id="1048651" name="TextBox 5"/>
          <p:cNvSpPr txBox="1"/>
          <p:nvPr/>
        </p:nvSpPr>
        <p:spPr>
          <a:xfrm>
            <a:off x="695400" y="1988840"/>
            <a:ext cx="5727770" cy="11582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SELECT </a:t>
            </a:r>
            <a:r>
              <a:rPr dirty="0" lang="en-US" err="1"/>
              <a:t>Booking_ID</a:t>
            </a:r>
            <a:r>
              <a:rPr dirty="0" lang="en-US"/>
              <a:t>, </a:t>
            </a:r>
            <a:r>
              <a:rPr dirty="0" lang="en-US" err="1"/>
              <a:t>Booking_Date</a:t>
            </a:r>
            <a:r>
              <a:rPr dirty="0" lang="en-US"/>
              <a:t>, </a:t>
            </a:r>
            <a:r>
              <a:rPr dirty="0" lang="en-US" err="1"/>
              <a:t>Pickup_Date</a:t>
            </a:r>
            <a:r>
              <a:rPr dirty="0" lang="en-US"/>
              <a:t>,</a:t>
            </a:r>
          </a:p>
          <a:p>
            <a:r>
              <a:rPr dirty="0" lang="en-US"/>
              <a:t>       </a:t>
            </a:r>
            <a:r>
              <a:rPr dirty="0" lang="en-US" err="1"/>
              <a:t>Return_Date</a:t>
            </a:r>
            <a:r>
              <a:rPr dirty="0" lang="en-US"/>
              <a:t>, </a:t>
            </a:r>
            <a:r>
              <a:rPr dirty="0" lang="en-US" err="1"/>
              <a:t>Booking_Status</a:t>
            </a:r>
            <a:endParaRPr dirty="0" lang="en-US"/>
          </a:p>
          <a:p>
            <a:r>
              <a:rPr dirty="0" lang="en-US"/>
              <a:t>FROM Booking</a:t>
            </a:r>
          </a:p>
          <a:p>
            <a:r>
              <a:rPr dirty="0" lang="en-US"/>
              <a:t>WHERE </a:t>
            </a:r>
            <a:r>
              <a:rPr dirty="0" lang="en-US" err="1"/>
              <a:t>Booking_Status</a:t>
            </a:r>
            <a:r>
              <a:rPr dirty="0" lang="en-US"/>
              <a:t> IN ('Confirmed', 'Completed');</a:t>
            </a:r>
            <a:endParaRPr dirty="0" lang="en-IN"/>
          </a:p>
        </p:txBody>
      </p:sp>
      <p:pic>
        <p:nvPicPr>
          <p:cNvPr id="2097170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384032" y="1268760"/>
            <a:ext cx="5448580" cy="2376264"/>
          </a:xfrm>
          <a:prstGeom prst="rect"/>
        </p:spPr>
      </p:pic>
      <p:sp>
        <p:nvSpPr>
          <p:cNvPr id="1048652" name="TextBox 8"/>
          <p:cNvSpPr txBox="1"/>
          <p:nvPr/>
        </p:nvSpPr>
        <p:spPr>
          <a:xfrm>
            <a:off x="695400" y="3641138"/>
            <a:ext cx="4402306" cy="4470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Query 4: Display UPI payments</a:t>
            </a:r>
          </a:p>
        </p:txBody>
      </p:sp>
      <p:sp>
        <p:nvSpPr>
          <p:cNvPr id="1048653" name="TextBox 9"/>
          <p:cNvSpPr txBox="1"/>
          <p:nvPr/>
        </p:nvSpPr>
        <p:spPr>
          <a:xfrm>
            <a:off x="695400" y="4117153"/>
            <a:ext cx="4661069" cy="11582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SELECT </a:t>
            </a:r>
            <a:r>
              <a:rPr dirty="0" lang="en-US" err="1"/>
              <a:t>Payment_ID</a:t>
            </a:r>
            <a:r>
              <a:rPr dirty="0" lang="en-US"/>
              <a:t>, </a:t>
            </a:r>
            <a:r>
              <a:rPr dirty="0" lang="en-US" err="1"/>
              <a:t>Payment_Date</a:t>
            </a:r>
            <a:r>
              <a:rPr dirty="0" lang="en-US"/>
              <a:t>,</a:t>
            </a:r>
          </a:p>
          <a:p>
            <a:r>
              <a:rPr dirty="0" lang="en-US"/>
              <a:t>       Amount, </a:t>
            </a:r>
            <a:r>
              <a:rPr dirty="0" lang="en-US" err="1"/>
              <a:t>Payment_Method</a:t>
            </a:r>
            <a:r>
              <a:rPr dirty="0" lang="en-US"/>
              <a:t>, </a:t>
            </a:r>
            <a:r>
              <a:rPr dirty="0" lang="en-US" err="1"/>
              <a:t>Booking_ID</a:t>
            </a:r>
            <a:endParaRPr dirty="0" lang="en-US"/>
          </a:p>
          <a:p>
            <a:r>
              <a:rPr dirty="0" lang="en-US"/>
              <a:t>FROM Payment</a:t>
            </a:r>
          </a:p>
          <a:p>
            <a:r>
              <a:rPr dirty="0" lang="en-US"/>
              <a:t>WHERE </a:t>
            </a:r>
            <a:r>
              <a:rPr dirty="0" lang="en-US" err="1"/>
              <a:t>Payment_Method</a:t>
            </a:r>
            <a:r>
              <a:rPr dirty="0" lang="en-US"/>
              <a:t> = 'UPI';</a:t>
            </a:r>
            <a:endParaRPr dirty="0" lang="en-IN"/>
          </a:p>
        </p:txBody>
      </p:sp>
      <p:pic>
        <p:nvPicPr>
          <p:cNvPr id="2097171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84032" y="4021956"/>
            <a:ext cx="5029458" cy="1390721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16</a:t>
            </a:fld>
            <a:endParaRPr lang="en-US"/>
          </a:p>
        </p:txBody>
      </p:sp>
      <p:sp>
        <p:nvSpPr>
          <p:cNvPr id="1048656" name="TextBox 4"/>
          <p:cNvSpPr txBox="1"/>
          <p:nvPr/>
        </p:nvSpPr>
        <p:spPr>
          <a:xfrm>
            <a:off x="695400" y="1124744"/>
            <a:ext cx="6696591" cy="447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Query 5: Display vehicles in order of rental price</a:t>
            </a:r>
          </a:p>
        </p:txBody>
      </p:sp>
      <p:sp>
        <p:nvSpPr>
          <p:cNvPr id="1048657" name="TextBox 5"/>
          <p:cNvSpPr txBox="1"/>
          <p:nvPr/>
        </p:nvSpPr>
        <p:spPr>
          <a:xfrm>
            <a:off x="707764" y="1586409"/>
            <a:ext cx="5983456" cy="8915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SELECT </a:t>
            </a:r>
            <a:r>
              <a:rPr dirty="0" lang="en-US" err="1"/>
              <a:t>Vehicle_ID</a:t>
            </a:r>
            <a:r>
              <a:rPr dirty="0" lang="en-US"/>
              <a:t>, Brand, Model, </a:t>
            </a:r>
            <a:r>
              <a:rPr dirty="0" lang="en-US" err="1"/>
              <a:t>Rental_Price_Per_Day</a:t>
            </a:r>
            <a:endParaRPr dirty="0" lang="en-US"/>
          </a:p>
          <a:p>
            <a:r>
              <a:rPr dirty="0" lang="en-US"/>
              <a:t>FROM Vehicle</a:t>
            </a:r>
          </a:p>
          <a:p>
            <a:r>
              <a:rPr dirty="0" lang="en-US"/>
              <a:t>ORDER BY </a:t>
            </a:r>
            <a:r>
              <a:rPr dirty="0" lang="en-US" err="1"/>
              <a:t>Rental_Price_Per_Day</a:t>
            </a:r>
            <a:r>
              <a:rPr dirty="0" lang="en-US"/>
              <a:t> ASC;</a:t>
            </a:r>
            <a:endParaRPr dirty="0" lang="en-IN"/>
          </a:p>
        </p:txBody>
      </p:sp>
      <p:pic>
        <p:nvPicPr>
          <p:cNvPr id="2097172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625249" y="982485"/>
            <a:ext cx="3848298" cy="2158483"/>
          </a:xfrm>
          <a:prstGeom prst="rect"/>
        </p:spPr>
      </p:pic>
      <p:sp>
        <p:nvSpPr>
          <p:cNvPr id="1048658" name="TextBox 8"/>
          <p:cNvSpPr txBox="1"/>
          <p:nvPr/>
        </p:nvSpPr>
        <p:spPr>
          <a:xfrm>
            <a:off x="695400" y="3140968"/>
            <a:ext cx="5777528" cy="447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Query 6: Calculate total payment amount</a:t>
            </a:r>
          </a:p>
        </p:txBody>
      </p:sp>
      <p:sp>
        <p:nvSpPr>
          <p:cNvPr id="1048659" name="TextBox 9"/>
          <p:cNvSpPr txBox="1"/>
          <p:nvPr/>
        </p:nvSpPr>
        <p:spPr>
          <a:xfrm>
            <a:off x="707764" y="3609424"/>
            <a:ext cx="4483269" cy="6248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SELECT SUM(Amount) AS </a:t>
            </a:r>
            <a:r>
              <a:rPr dirty="0" lang="en-US" err="1"/>
              <a:t>Total_Payment</a:t>
            </a:r>
            <a:endParaRPr dirty="0" lang="en-US"/>
          </a:p>
          <a:p>
            <a:r>
              <a:rPr dirty="0" lang="en-US"/>
              <a:t>FROM Payment;</a:t>
            </a:r>
            <a:endParaRPr dirty="0" lang="en-IN"/>
          </a:p>
        </p:txBody>
      </p:sp>
      <p:pic>
        <p:nvPicPr>
          <p:cNvPr id="2097173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625249" y="3371800"/>
            <a:ext cx="2114659" cy="787440"/>
          </a:xfrm>
          <a:prstGeom prst="rect"/>
        </p:spPr>
      </p:pic>
      <p:sp>
        <p:nvSpPr>
          <p:cNvPr id="1048660" name="TextBox 12"/>
          <p:cNvSpPr txBox="1"/>
          <p:nvPr/>
        </p:nvSpPr>
        <p:spPr>
          <a:xfrm>
            <a:off x="707764" y="4359715"/>
            <a:ext cx="7186434" cy="44704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Query 7: Find customers whose name starts with 'A'</a:t>
            </a:r>
          </a:p>
        </p:txBody>
      </p:sp>
      <p:sp>
        <p:nvSpPr>
          <p:cNvPr id="1048661" name="TextBox 13"/>
          <p:cNvSpPr txBox="1"/>
          <p:nvPr/>
        </p:nvSpPr>
        <p:spPr>
          <a:xfrm>
            <a:off x="707764" y="4835924"/>
            <a:ext cx="4572615" cy="8915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SELECT </a:t>
            </a:r>
            <a:r>
              <a:rPr dirty="0" lang="en-US" err="1"/>
              <a:t>Customer_ID</a:t>
            </a:r>
            <a:r>
              <a:rPr dirty="0" lang="en-US"/>
              <a:t>, Name, Phone, Email</a:t>
            </a:r>
          </a:p>
          <a:p>
            <a:r>
              <a:rPr dirty="0" lang="en-US"/>
              <a:t>FROM Customer</a:t>
            </a:r>
          </a:p>
          <a:p>
            <a:r>
              <a:rPr dirty="0" lang="en-US"/>
              <a:t>WHERE Name LIKE 'A%';</a:t>
            </a:r>
            <a:endParaRPr dirty="0" lang="en-IN"/>
          </a:p>
        </p:txBody>
      </p:sp>
      <p:pic>
        <p:nvPicPr>
          <p:cNvPr id="2097174" name="Picture 15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7565196" y="4777658"/>
            <a:ext cx="3759393" cy="882695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17</a:t>
            </a:fld>
            <a:endParaRPr lang="en-US"/>
          </a:p>
        </p:txBody>
      </p:sp>
      <p:sp>
        <p:nvSpPr>
          <p:cNvPr id="1048664" name="TextBox 4"/>
          <p:cNvSpPr txBox="1"/>
          <p:nvPr/>
        </p:nvSpPr>
        <p:spPr>
          <a:xfrm>
            <a:off x="695400" y="1124744"/>
            <a:ext cx="7117626" cy="447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Advanced Query 1 — Customer and their bookings</a:t>
            </a:r>
          </a:p>
        </p:txBody>
      </p:sp>
      <p:sp>
        <p:nvSpPr>
          <p:cNvPr id="1048665" name="TextBox 6"/>
          <p:cNvSpPr txBox="1"/>
          <p:nvPr/>
        </p:nvSpPr>
        <p:spPr>
          <a:xfrm>
            <a:off x="717104" y="1586409"/>
            <a:ext cx="3938736" cy="3558540"/>
          </a:xfrm>
          <a:prstGeom prst="rect"/>
          <a:noFill/>
        </p:spPr>
        <p:txBody>
          <a:bodyPr wrap="square">
            <a:spAutoFit/>
          </a:bodyPr>
          <a:p>
            <a:r>
              <a:rPr dirty="0" lang="en-IN"/>
              <a:t>SELECT</a:t>
            </a:r>
          </a:p>
          <a:p>
            <a:r>
              <a:rPr dirty="0" lang="en-IN"/>
              <a:t>    </a:t>
            </a:r>
            <a:r>
              <a:rPr dirty="0" lang="en-IN" err="1"/>
              <a:t>c.Customer_ID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c.Name</a:t>
            </a:r>
            <a:r>
              <a:rPr dirty="0" lang="en-IN"/>
              <a:t> AS </a:t>
            </a:r>
            <a:r>
              <a:rPr dirty="0" lang="en-IN" err="1"/>
              <a:t>Customer_Name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b.Booking_ID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b.Booking_Date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b.Pickup_Date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b.Return_Date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b.Booking_Status</a:t>
            </a:r>
            <a:endParaRPr dirty="0" lang="en-IN"/>
          </a:p>
          <a:p>
            <a:r>
              <a:rPr dirty="0" lang="en-IN"/>
              <a:t>FROM Customer c</a:t>
            </a:r>
          </a:p>
          <a:p>
            <a:r>
              <a:rPr dirty="0" lang="en-IN"/>
              <a:t>JOIN Booking b</a:t>
            </a:r>
          </a:p>
          <a:p>
            <a:r>
              <a:rPr dirty="0" lang="en-IN"/>
              <a:t>    ON </a:t>
            </a:r>
            <a:r>
              <a:rPr dirty="0" lang="en-IN" err="1"/>
              <a:t>c.Customer_ID</a:t>
            </a:r>
            <a:r>
              <a:rPr dirty="0" lang="en-IN"/>
              <a:t> = </a:t>
            </a:r>
            <a:r>
              <a:rPr dirty="0" lang="en-IN" err="1"/>
              <a:t>b.Customer_ID</a:t>
            </a:r>
            <a:endParaRPr dirty="0" lang="en-IN"/>
          </a:p>
          <a:p>
            <a:r>
              <a:rPr dirty="0" lang="en-IN"/>
              <a:t>ORDER BY </a:t>
            </a:r>
            <a:r>
              <a:rPr dirty="0" lang="en-IN" err="1"/>
              <a:t>c.Customer_ID</a:t>
            </a:r>
            <a:r>
              <a:rPr dirty="0" lang="en-IN"/>
              <a:t>;</a:t>
            </a:r>
          </a:p>
        </p:txBody>
      </p:sp>
      <p:pic>
        <p:nvPicPr>
          <p:cNvPr id="2097175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871864" y="1714500"/>
            <a:ext cx="7029623" cy="3429000"/>
          </a:xfrm>
          <a:prstGeom prst="rect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67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18</a:t>
            </a:fld>
            <a:endParaRPr lang="en-US"/>
          </a:p>
        </p:txBody>
      </p:sp>
      <p:sp>
        <p:nvSpPr>
          <p:cNvPr id="1048668" name="TextBox 4"/>
          <p:cNvSpPr txBox="1"/>
          <p:nvPr/>
        </p:nvSpPr>
        <p:spPr>
          <a:xfrm>
            <a:off x="695400" y="1052736"/>
            <a:ext cx="6917998" cy="447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Advanced Query 2 — Booking and vehicle details</a:t>
            </a:r>
          </a:p>
        </p:txBody>
      </p:sp>
      <p:sp>
        <p:nvSpPr>
          <p:cNvPr id="1048669" name="TextBox 5"/>
          <p:cNvSpPr txBox="1"/>
          <p:nvPr/>
        </p:nvSpPr>
        <p:spPr>
          <a:xfrm>
            <a:off x="993058" y="1868129"/>
            <a:ext cx="3532852" cy="38252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/>
              <a:t>SELECT</a:t>
            </a:r>
          </a:p>
          <a:p>
            <a:r>
              <a:rPr dirty="0" lang="en-IN"/>
              <a:t>    </a:t>
            </a:r>
            <a:r>
              <a:rPr dirty="0" lang="en-IN" err="1"/>
              <a:t>b.Booking_ID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b.Customer_ID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v.Vehicle_ID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v.Brand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v.Model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v.Registration_Number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v.Rental_Price_Per_Day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b.Pickup_Date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b.Return_Date</a:t>
            </a:r>
            <a:endParaRPr dirty="0" lang="en-IN"/>
          </a:p>
          <a:p>
            <a:r>
              <a:rPr dirty="0" lang="en-IN"/>
              <a:t>FROM Booking b</a:t>
            </a:r>
          </a:p>
          <a:p>
            <a:r>
              <a:rPr dirty="0" lang="en-IN"/>
              <a:t>JOIN Vehicle v</a:t>
            </a:r>
          </a:p>
          <a:p>
            <a:r>
              <a:rPr dirty="0" lang="en-IN"/>
              <a:t>    ON </a:t>
            </a:r>
            <a:r>
              <a:rPr dirty="0" lang="en-IN" err="1"/>
              <a:t>b.Vehicle_ID</a:t>
            </a:r>
            <a:r>
              <a:rPr dirty="0" lang="en-IN"/>
              <a:t> = </a:t>
            </a:r>
            <a:r>
              <a:rPr dirty="0" lang="en-IN" err="1"/>
              <a:t>v.Vehicle_ID</a:t>
            </a:r>
            <a:endParaRPr dirty="0" lang="en-IN"/>
          </a:p>
          <a:p>
            <a:r>
              <a:rPr dirty="0" lang="en-IN"/>
              <a:t>ORDER BY </a:t>
            </a:r>
            <a:r>
              <a:rPr dirty="0" lang="en-IN" err="1"/>
              <a:t>b.Booking_ID</a:t>
            </a:r>
            <a:r>
              <a:rPr dirty="0" lang="en-IN"/>
              <a:t>;</a:t>
            </a:r>
          </a:p>
        </p:txBody>
      </p:sp>
      <p:pic>
        <p:nvPicPr>
          <p:cNvPr id="2097176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655841" y="1772816"/>
            <a:ext cx="7128792" cy="3024336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71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19</a:t>
            </a:fld>
            <a:endParaRPr lang="en-US"/>
          </a:p>
        </p:txBody>
      </p:sp>
      <p:sp>
        <p:nvSpPr>
          <p:cNvPr id="1048672" name="TextBox 4"/>
          <p:cNvSpPr txBox="1"/>
          <p:nvPr/>
        </p:nvSpPr>
        <p:spPr>
          <a:xfrm>
            <a:off x="695400" y="1052736"/>
            <a:ext cx="8716933" cy="447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Advanced Query 3 — Customer, booking, vehicle and payment</a:t>
            </a:r>
          </a:p>
        </p:txBody>
      </p:sp>
      <p:sp>
        <p:nvSpPr>
          <p:cNvPr id="1048673" name="TextBox 5"/>
          <p:cNvSpPr txBox="1"/>
          <p:nvPr/>
        </p:nvSpPr>
        <p:spPr>
          <a:xfrm>
            <a:off x="767408" y="1538607"/>
            <a:ext cx="4077960" cy="43586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/>
              <a:t>SELECT</a:t>
            </a:r>
          </a:p>
          <a:p>
            <a:r>
              <a:rPr dirty="0" lang="en-IN"/>
              <a:t>    </a:t>
            </a:r>
            <a:r>
              <a:rPr dirty="0" lang="en-IN" err="1"/>
              <a:t>c.Name</a:t>
            </a:r>
            <a:r>
              <a:rPr dirty="0" lang="en-IN"/>
              <a:t> AS </a:t>
            </a:r>
            <a:r>
              <a:rPr dirty="0" lang="en-IN" err="1"/>
              <a:t>Customer_Name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b.Booking_ID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v.Brand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v.Model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p.Payment_ID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p.Amount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p.Payment_Method</a:t>
            </a:r>
            <a:endParaRPr dirty="0" lang="en-IN"/>
          </a:p>
          <a:p>
            <a:r>
              <a:rPr dirty="0" lang="en-IN"/>
              <a:t>FROM Customer c</a:t>
            </a:r>
          </a:p>
          <a:p>
            <a:r>
              <a:rPr dirty="0" lang="en-IN"/>
              <a:t>JOIN Booking b</a:t>
            </a:r>
          </a:p>
          <a:p>
            <a:r>
              <a:rPr dirty="0" lang="en-IN"/>
              <a:t>    ON </a:t>
            </a:r>
            <a:r>
              <a:rPr dirty="0" lang="en-IN" err="1"/>
              <a:t>c.Customer_ID</a:t>
            </a:r>
            <a:r>
              <a:rPr dirty="0" lang="en-IN"/>
              <a:t> = </a:t>
            </a:r>
            <a:r>
              <a:rPr dirty="0" lang="en-IN" err="1"/>
              <a:t>b.Customer_ID</a:t>
            </a:r>
            <a:endParaRPr dirty="0" lang="en-IN"/>
          </a:p>
          <a:p>
            <a:r>
              <a:rPr dirty="0" lang="en-IN"/>
              <a:t>JOIN Vehicle v</a:t>
            </a:r>
          </a:p>
          <a:p>
            <a:r>
              <a:rPr dirty="0" lang="en-IN"/>
              <a:t>    ON </a:t>
            </a:r>
            <a:r>
              <a:rPr dirty="0" lang="en-IN" err="1"/>
              <a:t>b.Vehicle_ID</a:t>
            </a:r>
            <a:r>
              <a:rPr dirty="0" lang="en-IN"/>
              <a:t> = </a:t>
            </a:r>
            <a:r>
              <a:rPr dirty="0" lang="en-IN" err="1"/>
              <a:t>v.Vehicle_ID</a:t>
            </a:r>
            <a:endParaRPr dirty="0" lang="en-IN"/>
          </a:p>
          <a:p>
            <a:r>
              <a:rPr dirty="0" lang="en-IN"/>
              <a:t>JOIN Payment p</a:t>
            </a:r>
          </a:p>
          <a:p>
            <a:r>
              <a:rPr dirty="0" lang="en-IN"/>
              <a:t>    ON </a:t>
            </a:r>
            <a:r>
              <a:rPr dirty="0" lang="en-IN" err="1"/>
              <a:t>b.Booking_ID</a:t>
            </a:r>
            <a:r>
              <a:rPr dirty="0" lang="en-IN"/>
              <a:t> = </a:t>
            </a:r>
            <a:r>
              <a:rPr dirty="0" lang="en-IN" err="1"/>
              <a:t>p.Booking_ID</a:t>
            </a:r>
            <a:endParaRPr dirty="0" lang="en-IN"/>
          </a:p>
          <a:p>
            <a:r>
              <a:rPr dirty="0" lang="en-IN"/>
              <a:t>ORDER BY </a:t>
            </a:r>
            <a:r>
              <a:rPr dirty="0" lang="en-IN" err="1"/>
              <a:t>p.Amount</a:t>
            </a:r>
            <a:r>
              <a:rPr dirty="0" lang="en-IN"/>
              <a:t> DESC;</a:t>
            </a:r>
          </a:p>
        </p:txBody>
      </p:sp>
      <p:pic>
        <p:nvPicPr>
          <p:cNvPr id="2097177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87888" y="1916832"/>
            <a:ext cx="6439231" cy="2880320"/>
          </a:xfrm>
          <a:prstGeom prst="rect"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75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20</a:t>
            </a:fld>
            <a:endParaRPr lang="en-US"/>
          </a:p>
        </p:txBody>
      </p:sp>
      <p:sp>
        <p:nvSpPr>
          <p:cNvPr id="1048676" name="TextBox 4"/>
          <p:cNvSpPr txBox="1"/>
          <p:nvPr/>
        </p:nvSpPr>
        <p:spPr>
          <a:xfrm>
            <a:off x="677211" y="1124744"/>
            <a:ext cx="7701131" cy="447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Advanced Query 4 — Total payment for each customer</a:t>
            </a:r>
          </a:p>
        </p:txBody>
      </p:sp>
      <p:sp>
        <p:nvSpPr>
          <p:cNvPr id="1048677" name="TextBox 5"/>
          <p:cNvSpPr txBox="1"/>
          <p:nvPr/>
        </p:nvSpPr>
        <p:spPr>
          <a:xfrm>
            <a:off x="695400" y="1735961"/>
            <a:ext cx="4509958" cy="1958341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SELECT </a:t>
            </a:r>
            <a:r>
              <a:rPr dirty="0" lang="en-US" err="1"/>
              <a:t>c.Name</a:t>
            </a:r>
            <a:r>
              <a:rPr dirty="0" lang="en-US"/>
              <a:t>,</a:t>
            </a:r>
          </a:p>
          <a:p>
            <a:r>
              <a:rPr dirty="0" lang="en-US"/>
              <a:t>       SUM(</a:t>
            </a:r>
            <a:r>
              <a:rPr dirty="0" lang="en-US" err="1"/>
              <a:t>p.Amount</a:t>
            </a:r>
            <a:r>
              <a:rPr dirty="0" lang="en-US"/>
              <a:t>)</a:t>
            </a:r>
          </a:p>
          <a:p>
            <a:r>
              <a:rPr dirty="0" lang="en-US"/>
              <a:t>FROM Customer c, Booking b, Payment p</a:t>
            </a:r>
          </a:p>
          <a:p>
            <a:r>
              <a:rPr dirty="0" lang="en-US"/>
              <a:t>WHERE </a:t>
            </a:r>
            <a:r>
              <a:rPr dirty="0" lang="en-US" err="1"/>
              <a:t>c.Customer_ID</a:t>
            </a:r>
            <a:r>
              <a:rPr dirty="0" lang="en-US"/>
              <a:t> = </a:t>
            </a:r>
            <a:r>
              <a:rPr dirty="0" lang="en-US" err="1"/>
              <a:t>b.Customer_ID</a:t>
            </a:r>
            <a:endParaRPr dirty="0" lang="en-US"/>
          </a:p>
          <a:p>
            <a:r>
              <a:rPr dirty="0" lang="en-US"/>
              <a:t>AND </a:t>
            </a:r>
            <a:r>
              <a:rPr dirty="0" lang="en-US" err="1"/>
              <a:t>b.Booking_ID</a:t>
            </a:r>
            <a:r>
              <a:rPr dirty="0" lang="en-US"/>
              <a:t> = </a:t>
            </a:r>
            <a:r>
              <a:rPr dirty="0" lang="en-US" err="1"/>
              <a:t>p.Booking_ID</a:t>
            </a:r>
            <a:endParaRPr dirty="0" lang="en-US"/>
          </a:p>
          <a:p>
            <a:r>
              <a:rPr dirty="0" lang="en-US"/>
              <a:t>GROUP BY </a:t>
            </a:r>
            <a:r>
              <a:rPr dirty="0" lang="en-US" err="1"/>
              <a:t>c.Name</a:t>
            </a:r>
            <a:endParaRPr dirty="0" lang="en-US"/>
          </a:p>
          <a:p>
            <a:r>
              <a:rPr dirty="0" lang="en-US"/>
              <a:t>ORDER BY SUM(</a:t>
            </a:r>
            <a:r>
              <a:rPr dirty="0" lang="en-US" err="1"/>
              <a:t>p.Amount</a:t>
            </a:r>
            <a:r>
              <a:rPr dirty="0" lang="en-US"/>
              <a:t>) DESC;</a:t>
            </a:r>
            <a:endParaRPr dirty="0" lang="en-IN"/>
          </a:p>
        </p:txBody>
      </p:sp>
      <p:pic>
        <p:nvPicPr>
          <p:cNvPr id="2097178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473513" y="1584327"/>
            <a:ext cx="3530781" cy="2292468"/>
          </a:xfrm>
          <a:prstGeom prst="rect"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7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21</a:t>
            </a:fld>
            <a:endParaRPr lang="en-US"/>
          </a:p>
        </p:txBody>
      </p:sp>
      <p:sp>
        <p:nvSpPr>
          <p:cNvPr id="1048680" name="TextBox 5"/>
          <p:cNvSpPr txBox="1"/>
          <p:nvPr/>
        </p:nvSpPr>
        <p:spPr>
          <a:xfrm>
            <a:off x="983432" y="980728"/>
            <a:ext cx="7200800" cy="802640"/>
          </a:xfrm>
          <a:prstGeom prst="rect"/>
          <a:noFill/>
        </p:spPr>
        <p:txBody>
          <a:bodyPr wrap="square">
            <a:spAutoFit/>
          </a:bodyPr>
          <a:p>
            <a:r>
              <a:rPr dirty="0" sz="2400" lang="en-IN"/>
              <a:t>Advanced Query 5 — Booking and return information</a:t>
            </a:r>
          </a:p>
        </p:txBody>
      </p:sp>
      <p:sp>
        <p:nvSpPr>
          <p:cNvPr id="1048681" name="TextBox 7"/>
          <p:cNvSpPr txBox="1"/>
          <p:nvPr/>
        </p:nvSpPr>
        <p:spPr>
          <a:xfrm>
            <a:off x="983432" y="1340768"/>
            <a:ext cx="6215742" cy="4625340"/>
          </a:xfrm>
          <a:prstGeom prst="rect"/>
          <a:noFill/>
        </p:spPr>
        <p:txBody>
          <a:bodyPr wrap="square">
            <a:spAutoFit/>
          </a:bodyPr>
          <a:p>
            <a:r>
              <a:rPr dirty="0" lang="en-IN"/>
              <a:t>SELECT</a:t>
            </a:r>
          </a:p>
          <a:p>
            <a:r>
              <a:rPr dirty="0" lang="en-IN"/>
              <a:t>    </a:t>
            </a:r>
            <a:r>
              <a:rPr dirty="0" lang="en-IN" err="1"/>
              <a:t>b.Booking_ID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c.Name</a:t>
            </a:r>
            <a:r>
              <a:rPr dirty="0" lang="en-IN"/>
              <a:t> AS </a:t>
            </a:r>
            <a:r>
              <a:rPr dirty="0" lang="en-IN" err="1"/>
              <a:t>Customer_Name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v.Brand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v.Model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b.Pickup_Date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r.Return_Date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r.Fuel_Level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r.Damage_Charges</a:t>
            </a:r>
            <a:endParaRPr dirty="0" lang="en-IN"/>
          </a:p>
          <a:p>
            <a:r>
              <a:rPr dirty="0" lang="en-IN"/>
              <a:t>FROM Booking b</a:t>
            </a:r>
          </a:p>
          <a:p>
            <a:r>
              <a:rPr dirty="0" lang="en-IN"/>
              <a:t>JOIN Customer c</a:t>
            </a:r>
          </a:p>
          <a:p>
            <a:r>
              <a:rPr dirty="0" lang="en-IN"/>
              <a:t>    ON </a:t>
            </a:r>
            <a:r>
              <a:rPr dirty="0" lang="en-IN" err="1"/>
              <a:t>b.Customer_ID</a:t>
            </a:r>
            <a:r>
              <a:rPr dirty="0" lang="en-IN"/>
              <a:t> = </a:t>
            </a:r>
            <a:r>
              <a:rPr dirty="0" lang="en-IN" err="1"/>
              <a:t>c.Customer_ID</a:t>
            </a:r>
            <a:endParaRPr dirty="0" lang="en-IN"/>
          </a:p>
          <a:p>
            <a:r>
              <a:rPr dirty="0" lang="en-IN"/>
              <a:t>JOIN Vehicle v</a:t>
            </a:r>
          </a:p>
          <a:p>
            <a:r>
              <a:rPr dirty="0" lang="en-IN"/>
              <a:t>    ON </a:t>
            </a:r>
            <a:r>
              <a:rPr dirty="0" lang="en-IN" err="1"/>
              <a:t>b.Vehicle_ID</a:t>
            </a:r>
            <a:r>
              <a:rPr dirty="0" lang="en-IN"/>
              <a:t> = </a:t>
            </a:r>
            <a:r>
              <a:rPr dirty="0" lang="en-IN" err="1"/>
              <a:t>v.Vehicle_ID</a:t>
            </a:r>
            <a:endParaRPr dirty="0" lang="en-IN"/>
          </a:p>
          <a:p>
            <a:r>
              <a:rPr dirty="0" lang="en-IN"/>
              <a:t>JOIN </a:t>
            </a:r>
            <a:r>
              <a:rPr dirty="0" lang="en-IN" err="1"/>
              <a:t>Return_Record</a:t>
            </a:r>
            <a:r>
              <a:rPr dirty="0" lang="en-IN"/>
              <a:t> r</a:t>
            </a:r>
          </a:p>
          <a:p>
            <a:r>
              <a:rPr dirty="0" lang="en-IN"/>
              <a:t>    ON </a:t>
            </a:r>
            <a:r>
              <a:rPr dirty="0" lang="en-IN" err="1"/>
              <a:t>b.Booking_ID</a:t>
            </a:r>
            <a:r>
              <a:rPr dirty="0" lang="en-IN"/>
              <a:t> = </a:t>
            </a:r>
            <a:r>
              <a:rPr dirty="0" lang="en-IN" err="1"/>
              <a:t>r.Booking_ID</a:t>
            </a:r>
            <a:endParaRPr dirty="0" lang="en-IN"/>
          </a:p>
          <a:p>
            <a:r>
              <a:rPr dirty="0" lang="en-IN"/>
              <a:t>ORDER BY </a:t>
            </a:r>
            <a:r>
              <a:rPr dirty="0" lang="en-IN" err="1"/>
              <a:t>r.Damage_Charges</a:t>
            </a:r>
            <a:r>
              <a:rPr dirty="0" lang="en-IN"/>
              <a:t> DESC;</a:t>
            </a:r>
          </a:p>
        </p:txBody>
      </p:sp>
      <p:pic>
        <p:nvPicPr>
          <p:cNvPr id="2097179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410457" y="1579082"/>
            <a:ext cx="7547549" cy="2305168"/>
          </a:xfrm>
          <a:prstGeom prst="rect"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83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22</a:t>
            </a:fld>
            <a:endParaRPr lang="en-US"/>
          </a:p>
        </p:txBody>
      </p:sp>
      <p:sp>
        <p:nvSpPr>
          <p:cNvPr id="1048684" name="TextBox 4"/>
          <p:cNvSpPr txBox="1"/>
          <p:nvPr/>
        </p:nvSpPr>
        <p:spPr>
          <a:xfrm>
            <a:off x="695400" y="1124744"/>
            <a:ext cx="8271540" cy="44704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400" lang="en-IN"/>
              <a:t>Advanced Query 6 — Bookings managed by administrators</a:t>
            </a:r>
          </a:p>
        </p:txBody>
      </p:sp>
      <p:sp>
        <p:nvSpPr>
          <p:cNvPr id="1048685" name="TextBox 6"/>
          <p:cNvSpPr txBox="1"/>
          <p:nvPr/>
        </p:nvSpPr>
        <p:spPr>
          <a:xfrm>
            <a:off x="695400" y="1586409"/>
            <a:ext cx="4248472" cy="4091940"/>
          </a:xfrm>
          <a:prstGeom prst="rect"/>
          <a:noFill/>
        </p:spPr>
        <p:txBody>
          <a:bodyPr wrap="square">
            <a:spAutoFit/>
          </a:bodyPr>
          <a:p>
            <a:r>
              <a:rPr dirty="0" lang="en-IN"/>
              <a:t>SELECT</a:t>
            </a:r>
          </a:p>
          <a:p>
            <a:r>
              <a:rPr dirty="0" lang="en-IN"/>
              <a:t>    </a:t>
            </a:r>
            <a:r>
              <a:rPr dirty="0" lang="en-IN" err="1"/>
              <a:t>a.Admin_ID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a.Name</a:t>
            </a:r>
            <a:r>
              <a:rPr dirty="0" lang="en-IN"/>
              <a:t> AS </a:t>
            </a:r>
            <a:r>
              <a:rPr dirty="0" lang="en-IN" err="1"/>
              <a:t>Admin_Name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b.Booking_ID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c.Name</a:t>
            </a:r>
            <a:r>
              <a:rPr dirty="0" lang="en-IN"/>
              <a:t> AS </a:t>
            </a:r>
            <a:r>
              <a:rPr dirty="0" lang="en-IN" err="1"/>
              <a:t>Customer_Name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v.Brand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v.Model</a:t>
            </a:r>
            <a:endParaRPr dirty="0" lang="en-IN"/>
          </a:p>
          <a:p>
            <a:r>
              <a:rPr dirty="0" lang="en-IN"/>
              <a:t>FROM Admin a</a:t>
            </a:r>
          </a:p>
          <a:p>
            <a:r>
              <a:rPr dirty="0" lang="en-IN"/>
              <a:t>JOIN Booking b</a:t>
            </a:r>
          </a:p>
          <a:p>
            <a:r>
              <a:rPr dirty="0" lang="en-IN"/>
              <a:t>    ON </a:t>
            </a:r>
            <a:r>
              <a:rPr dirty="0" lang="en-IN" err="1"/>
              <a:t>a.Admin_ID</a:t>
            </a:r>
            <a:r>
              <a:rPr dirty="0" lang="en-IN"/>
              <a:t> = </a:t>
            </a:r>
            <a:r>
              <a:rPr dirty="0" lang="en-IN" err="1"/>
              <a:t>b.Admin_ID</a:t>
            </a:r>
            <a:endParaRPr dirty="0" lang="en-IN"/>
          </a:p>
          <a:p>
            <a:r>
              <a:rPr dirty="0" lang="en-IN"/>
              <a:t>JOIN Customer c</a:t>
            </a:r>
          </a:p>
          <a:p>
            <a:r>
              <a:rPr dirty="0" lang="en-IN"/>
              <a:t>    ON </a:t>
            </a:r>
            <a:r>
              <a:rPr dirty="0" lang="en-IN" err="1"/>
              <a:t>b.Customer_ID</a:t>
            </a:r>
            <a:r>
              <a:rPr dirty="0" lang="en-IN"/>
              <a:t> = </a:t>
            </a:r>
            <a:r>
              <a:rPr dirty="0" lang="en-IN" err="1"/>
              <a:t>c.Customer_ID</a:t>
            </a:r>
            <a:endParaRPr dirty="0" lang="en-IN"/>
          </a:p>
          <a:p>
            <a:r>
              <a:rPr dirty="0" lang="en-IN"/>
              <a:t>JOIN Vehicle v</a:t>
            </a:r>
          </a:p>
          <a:p>
            <a:r>
              <a:rPr dirty="0" lang="en-IN"/>
              <a:t>    ON </a:t>
            </a:r>
            <a:r>
              <a:rPr dirty="0" lang="en-IN" err="1"/>
              <a:t>b.Vehicle_ID</a:t>
            </a:r>
            <a:r>
              <a:rPr dirty="0" lang="en-IN"/>
              <a:t> = </a:t>
            </a:r>
            <a:r>
              <a:rPr dirty="0" lang="en-IN" err="1"/>
              <a:t>v.Vehicle_ID</a:t>
            </a:r>
            <a:endParaRPr dirty="0" lang="en-IN"/>
          </a:p>
          <a:p>
            <a:r>
              <a:rPr dirty="0" lang="en-IN"/>
              <a:t>ORDER BY </a:t>
            </a:r>
            <a:r>
              <a:rPr dirty="0" lang="en-IN" err="1"/>
              <a:t>a.Admin_ID</a:t>
            </a:r>
            <a:r>
              <a:rPr dirty="0" lang="en-IN"/>
              <a:t>;</a:t>
            </a:r>
          </a:p>
        </p:txBody>
      </p:sp>
      <p:pic>
        <p:nvPicPr>
          <p:cNvPr id="2097180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449144" y="1916832"/>
            <a:ext cx="5904656" cy="3512585"/>
          </a:xfrm>
          <a:prstGeom prst="rect"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87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23</a:t>
            </a:fld>
            <a:endParaRPr lang="en-US"/>
          </a:p>
        </p:txBody>
      </p:sp>
      <p:sp>
        <p:nvSpPr>
          <p:cNvPr id="1048688" name="TextBox 5"/>
          <p:cNvSpPr txBox="1"/>
          <p:nvPr/>
        </p:nvSpPr>
        <p:spPr>
          <a:xfrm>
            <a:off x="695400" y="1196752"/>
            <a:ext cx="7188054" cy="802640"/>
          </a:xfrm>
          <a:prstGeom prst="rect"/>
          <a:noFill/>
        </p:spPr>
        <p:txBody>
          <a:bodyPr wrap="square">
            <a:spAutoFit/>
          </a:bodyPr>
          <a:p>
            <a:r>
              <a:rPr dirty="0" sz="2400" lang="en-IN"/>
              <a:t>Advanced Query 7 — Find vehicles with rental price above average</a:t>
            </a:r>
          </a:p>
        </p:txBody>
      </p:sp>
      <p:sp>
        <p:nvSpPr>
          <p:cNvPr id="1048689" name="TextBox 7"/>
          <p:cNvSpPr txBox="1"/>
          <p:nvPr/>
        </p:nvSpPr>
        <p:spPr>
          <a:xfrm>
            <a:off x="695400" y="2244928"/>
            <a:ext cx="6215742" cy="3291841"/>
          </a:xfrm>
          <a:prstGeom prst="rect"/>
          <a:noFill/>
        </p:spPr>
        <p:txBody>
          <a:bodyPr wrap="square">
            <a:spAutoFit/>
          </a:bodyPr>
          <a:p>
            <a:r>
              <a:rPr dirty="0" lang="en-IN"/>
              <a:t>SELECT</a:t>
            </a:r>
          </a:p>
          <a:p>
            <a:r>
              <a:rPr dirty="0" lang="en-IN"/>
              <a:t>    </a:t>
            </a:r>
            <a:r>
              <a:rPr dirty="0" lang="en-IN" err="1"/>
              <a:t>Vehicle_ID</a:t>
            </a:r>
            <a:r>
              <a:rPr dirty="0" lang="en-IN"/>
              <a:t>,</a:t>
            </a:r>
          </a:p>
          <a:p>
            <a:r>
              <a:rPr dirty="0" lang="en-IN"/>
              <a:t>    Brand,</a:t>
            </a:r>
          </a:p>
          <a:p>
            <a:r>
              <a:rPr dirty="0" lang="en-IN"/>
              <a:t>    Model,</a:t>
            </a:r>
          </a:p>
          <a:p>
            <a:r>
              <a:rPr dirty="0" lang="en-IN"/>
              <a:t>    </a:t>
            </a:r>
            <a:r>
              <a:rPr dirty="0" lang="en-IN" err="1"/>
              <a:t>Rental_Price_Per_Day</a:t>
            </a:r>
            <a:endParaRPr dirty="0" lang="en-IN"/>
          </a:p>
          <a:p>
            <a:r>
              <a:rPr dirty="0" lang="en-IN"/>
              <a:t>FROM Vehicle</a:t>
            </a:r>
          </a:p>
          <a:p>
            <a:r>
              <a:rPr dirty="0" lang="en-IN"/>
              <a:t>WHERE </a:t>
            </a:r>
            <a:r>
              <a:rPr dirty="0" lang="en-IN" err="1"/>
              <a:t>Rental_Price_Per_Day</a:t>
            </a:r>
            <a:r>
              <a:rPr dirty="0" lang="en-IN"/>
              <a:t> &gt;</a:t>
            </a:r>
          </a:p>
          <a:p>
            <a:r>
              <a:rPr dirty="0" lang="en-IN"/>
              <a:t>      (</a:t>
            </a:r>
          </a:p>
          <a:p>
            <a:r>
              <a:rPr dirty="0" lang="en-IN"/>
              <a:t>          SELECT AVG(</a:t>
            </a:r>
            <a:r>
              <a:rPr dirty="0" lang="en-IN" err="1"/>
              <a:t>Rental_Price_Per_Day</a:t>
            </a:r>
            <a:r>
              <a:rPr dirty="0" lang="en-IN"/>
              <a:t>)</a:t>
            </a:r>
          </a:p>
          <a:p>
            <a:r>
              <a:rPr dirty="0" lang="en-IN"/>
              <a:t>          FROM Vehicle</a:t>
            </a:r>
          </a:p>
          <a:p>
            <a:r>
              <a:rPr dirty="0" lang="en-IN"/>
              <a:t>      )</a:t>
            </a:r>
          </a:p>
          <a:p>
            <a:r>
              <a:rPr dirty="0" lang="en-IN"/>
              <a:t>ORDER BY </a:t>
            </a:r>
            <a:r>
              <a:rPr dirty="0" lang="en-IN" err="1"/>
              <a:t>Rental_Price_Per_Day</a:t>
            </a:r>
            <a:r>
              <a:rPr dirty="0" lang="en-IN"/>
              <a:t> DESC;</a:t>
            </a:r>
          </a:p>
        </p:txBody>
      </p:sp>
      <p:pic>
        <p:nvPicPr>
          <p:cNvPr id="2097181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85010" y="2244928"/>
            <a:ext cx="5832348" cy="2304256"/>
          </a:xfrm>
          <a:prstGeom prst="rect"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r>
              <a:rPr lang="en-US"/>
              <a:t>DBMS                                                                K Vydehi, Asst Professor, CSE Dept.</a:t>
            </a:r>
            <a:endParaRPr dirty="0" lang="en-US"/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fld id="{326EF2E3-409D-4D76-AD02-397A36B0DAF9}" type="slidenum">
              <a:rPr lang="en-US" smtClean="0"/>
              <a:t>24</a:t>
            </a:fld>
            <a:endParaRPr lang="en-US"/>
          </a:p>
        </p:txBody>
      </p:sp>
      <p:sp>
        <p:nvSpPr>
          <p:cNvPr id="1048692" name="TextBox 5"/>
          <p:cNvSpPr txBox="1"/>
          <p:nvPr/>
        </p:nvSpPr>
        <p:spPr>
          <a:xfrm>
            <a:off x="695400" y="1196752"/>
            <a:ext cx="6215742" cy="802639"/>
          </a:xfrm>
          <a:prstGeom prst="rect"/>
          <a:noFill/>
        </p:spPr>
        <p:txBody>
          <a:bodyPr wrap="square">
            <a:spAutoFit/>
          </a:bodyPr>
          <a:p>
            <a:r>
              <a:rPr dirty="0" sz="2400" lang="en-IN"/>
              <a:t>Advanced Query 8 — Calculate rental duration</a:t>
            </a:r>
          </a:p>
        </p:txBody>
      </p:sp>
      <p:sp>
        <p:nvSpPr>
          <p:cNvPr id="1048693" name="TextBox 7"/>
          <p:cNvSpPr txBox="1"/>
          <p:nvPr/>
        </p:nvSpPr>
        <p:spPr>
          <a:xfrm>
            <a:off x="704461" y="1844824"/>
            <a:ext cx="4167403" cy="3825240"/>
          </a:xfrm>
          <a:prstGeom prst="rect"/>
          <a:noFill/>
        </p:spPr>
        <p:txBody>
          <a:bodyPr wrap="square">
            <a:spAutoFit/>
          </a:bodyPr>
          <a:p>
            <a:r>
              <a:rPr dirty="0" lang="en-IN"/>
              <a:t>SELECT</a:t>
            </a:r>
          </a:p>
          <a:p>
            <a:r>
              <a:rPr dirty="0" lang="en-IN"/>
              <a:t>    </a:t>
            </a:r>
            <a:r>
              <a:rPr dirty="0" lang="en-IN" err="1"/>
              <a:t>b.Booking_ID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c.Name</a:t>
            </a:r>
            <a:r>
              <a:rPr dirty="0" lang="en-IN"/>
              <a:t> AS </a:t>
            </a:r>
            <a:r>
              <a:rPr dirty="0" lang="en-IN" err="1"/>
              <a:t>Customer_Name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v.Brand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v.Model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b.Pickup_Date</a:t>
            </a:r>
            <a:r>
              <a:rPr dirty="0" lang="en-IN"/>
              <a:t>,</a:t>
            </a:r>
          </a:p>
          <a:p>
            <a:r>
              <a:rPr dirty="0" lang="en-IN"/>
              <a:t>    </a:t>
            </a:r>
            <a:r>
              <a:rPr dirty="0" lang="en-IN" err="1"/>
              <a:t>b.Return_Date</a:t>
            </a:r>
            <a:r>
              <a:rPr dirty="0" lang="en-IN"/>
              <a:t>,</a:t>
            </a:r>
          </a:p>
          <a:p>
            <a:r>
              <a:rPr dirty="0" lang="en-IN"/>
              <a:t>    (</a:t>
            </a:r>
            <a:r>
              <a:rPr dirty="0" lang="en-IN" err="1"/>
              <a:t>b.Return_Date</a:t>
            </a:r>
            <a:r>
              <a:rPr dirty="0" lang="en-IN"/>
              <a:t> - </a:t>
            </a:r>
            <a:r>
              <a:rPr dirty="0" lang="en-IN" err="1"/>
              <a:t>b.Pickup_Date</a:t>
            </a:r>
            <a:r>
              <a:rPr dirty="0" lang="en-IN"/>
              <a:t>) AS</a:t>
            </a:r>
          </a:p>
          <a:p>
            <a:r>
              <a:rPr dirty="0" lang="en-IN"/>
              <a:t> </a:t>
            </a:r>
            <a:r>
              <a:rPr dirty="0" lang="en-IN" err="1"/>
              <a:t>Rental_Duration</a:t>
            </a:r>
            <a:r>
              <a:rPr dirty="0" lang="en-IN"/>
              <a:t> FROM Booking b</a:t>
            </a:r>
          </a:p>
          <a:p>
            <a:r>
              <a:rPr dirty="0" lang="en-IN"/>
              <a:t>JOIN Customer c</a:t>
            </a:r>
          </a:p>
          <a:p>
            <a:r>
              <a:rPr dirty="0" lang="en-IN"/>
              <a:t>    ON </a:t>
            </a:r>
            <a:r>
              <a:rPr dirty="0" lang="en-IN" err="1"/>
              <a:t>b.Customer_ID</a:t>
            </a:r>
            <a:r>
              <a:rPr dirty="0" lang="en-IN"/>
              <a:t> = </a:t>
            </a:r>
            <a:r>
              <a:rPr dirty="0" lang="en-IN" err="1"/>
              <a:t>c.Customer_ID</a:t>
            </a:r>
            <a:endParaRPr dirty="0" lang="en-IN"/>
          </a:p>
          <a:p>
            <a:r>
              <a:rPr dirty="0" lang="en-IN"/>
              <a:t>JOIN Vehicle v</a:t>
            </a:r>
          </a:p>
          <a:p>
            <a:r>
              <a:rPr dirty="0" lang="en-IN"/>
              <a:t>    ON </a:t>
            </a:r>
            <a:r>
              <a:rPr dirty="0" lang="en-IN" err="1"/>
              <a:t>b.Vehicle_ID</a:t>
            </a:r>
            <a:r>
              <a:rPr dirty="0" lang="en-IN"/>
              <a:t> = </a:t>
            </a:r>
            <a:r>
              <a:rPr dirty="0" lang="en-IN" err="1"/>
              <a:t>v.Vehicle_ID</a:t>
            </a:r>
            <a:endParaRPr dirty="0" lang="en-IN"/>
          </a:p>
          <a:p>
            <a:r>
              <a:rPr dirty="0" lang="en-IN"/>
              <a:t>ORDER BY </a:t>
            </a:r>
            <a:r>
              <a:rPr dirty="0" lang="en-IN" err="1"/>
              <a:t>Rental_Duration</a:t>
            </a:r>
            <a:r>
              <a:rPr dirty="0" lang="en-IN"/>
              <a:t> DESC;</a:t>
            </a:r>
          </a:p>
        </p:txBody>
      </p:sp>
      <p:pic>
        <p:nvPicPr>
          <p:cNvPr id="2097182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15880" y="2266890"/>
            <a:ext cx="6858352" cy="2324219"/>
          </a:xfrm>
          <a:prstGeom prst="rect"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3" name="Picture 1" descr="aditya_logo_crop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472" y="256032"/>
            <a:ext cx="2057400" cy="802037"/>
          </a:xfrm>
          <a:prstGeom prst="rect"/>
        </p:spPr>
      </p:pic>
      <p:sp>
        <p:nvSpPr>
          <p:cNvPr id="1048694" name="TextBox 3"/>
          <p:cNvSpPr txBox="1"/>
          <p:nvPr/>
        </p:nvSpPr>
        <p:spPr>
          <a:xfrm>
            <a:off x="5212080" y="6510528"/>
            <a:ext cx="914400" cy="256540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100" i="0">
                <a:solidFill>
                  <a:srgbClr val="7D7D7D"/>
                </a:solidFill>
                <a:latin typeface="Arial"/>
              </a:rPr>
              <a:t>DBMS</a:t>
            </a:r>
          </a:p>
        </p:txBody>
      </p:sp>
      <p:sp>
        <p:nvSpPr>
          <p:cNvPr id="1048695" name="TextBox 4"/>
          <p:cNvSpPr txBox="1"/>
          <p:nvPr/>
        </p:nvSpPr>
        <p:spPr>
          <a:xfrm>
            <a:off x="6400800" y="6510528"/>
            <a:ext cx="3474720" cy="2565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100" i="0">
                <a:solidFill>
                  <a:srgbClr val="7D7D7D"/>
                </a:solidFill>
                <a:latin typeface="Arial"/>
              </a:rPr>
              <a:t>K Vydehi, Asst Professor, CSE Dept.</a:t>
            </a:r>
          </a:p>
        </p:txBody>
      </p:sp>
      <p:sp>
        <p:nvSpPr>
          <p:cNvPr id="1048696" name="TextBox 5"/>
          <p:cNvSpPr txBox="1"/>
          <p:nvPr/>
        </p:nvSpPr>
        <p:spPr>
          <a:xfrm>
            <a:off x="11292840" y="6492240"/>
            <a:ext cx="320040" cy="421640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1100" i="0">
                <a:solidFill>
                  <a:srgbClr val="7D7D7D"/>
                </a:solidFill>
                <a:latin typeface="Arial"/>
              </a:rPr>
              <a:t>25</a:t>
            </a:r>
          </a:p>
        </p:txBody>
      </p:sp>
      <p:sp>
        <p:nvSpPr>
          <p:cNvPr id="2097184" name="TextBox 2097183"/>
          <p:cNvSpPr txBox="1"/>
          <p:nvPr/>
        </p:nvSpPr>
        <p:spPr>
          <a:xfrm>
            <a:off x="548640" y="960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ptos"/>
              </a:rPr>
              <a:t>NORMALIZATION</a:t>
            </a:r>
          </a:p>
        </p:txBody>
      </p:sp>
      <p:sp>
        <p:nvSpPr>
          <p:cNvPr id="2097185" name="TextBox 2097184"/>
          <p:cNvSpPr txBox="1"/>
          <p:nvPr/>
        </p:nvSpPr>
        <p:spPr>
          <a:xfrm>
            <a:off x="640080" y="1508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Aptos"/>
              </a:rPr>
              <a:t>Normalization organizes the rental data into related tables so that each fact is stored in the appropriate place.</a:t>
            </a:r>
          </a:p>
        </p:txBody>
      </p:sp>
      <p:sp>
        <p:nvSpPr>
          <p:cNvPr id="2097186" name="TextBox 2097185"/>
          <p:cNvSpPr txBox="1"/>
          <p:nvPr/>
        </p:nvSpPr>
        <p:spPr>
          <a:xfrm>
            <a:off x="64008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643C"/>
                </a:solidFill>
                <a:latin typeface="Aptos"/>
              </a:rPr>
              <a:t>Starting unnormalized relation (UNF)</a:t>
            </a:r>
          </a:p>
        </p:txBody>
      </p:sp>
      <p:sp>
        <p:nvSpPr>
          <p:cNvPr id="2097187" name="TextBox 2097186"/>
          <p:cNvSpPr txBox="1"/>
          <p:nvPr/>
        </p:nvSpPr>
        <p:spPr>
          <a:xfrm>
            <a:off x="731520" y="269748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82828"/>
                </a:solidFill>
                <a:latin typeface="Aptos"/>
              </a:rPr>
              <a:t>RENTAL_RECORD(</a:t>
            </a:r>
            <a:br/>
            <a:r>
              <a:rPr sz="1700" b="0">
                <a:solidFill>
                  <a:srgbClr val="282828"/>
                </a:solidFill>
                <a:latin typeface="Aptos"/>
              </a:rPr>
              <a:t>Booking_ID, Customer_ID, Customer_Name, Customer_Phone,</a:t>
            </a:r>
            <a:br/>
            <a:r>
              <a:rPr sz="1700" b="0">
                <a:solidFill>
                  <a:srgbClr val="282828"/>
                </a:solidFill>
                <a:latin typeface="Aptos"/>
              </a:rPr>
              <a:t>Vehicle_ID, Brand, Model, Registration_Number, Rental_Price_Per_Day,</a:t>
            </a:r>
            <a:br/>
            <a:r>
              <a:rPr sz="1700" b="0">
                <a:solidFill>
                  <a:srgbClr val="282828"/>
                </a:solidFill>
                <a:latin typeface="Aptos"/>
              </a:rPr>
              <a:t>Booking_Date, Pickup_Date, Return_Date, Booking_Status,</a:t>
            </a:r>
            <a:br/>
            <a:r>
              <a:rPr sz="1700" b="0">
                <a:solidFill>
                  <a:srgbClr val="282828"/>
                </a:solidFill>
                <a:latin typeface="Aptos"/>
              </a:rPr>
              <a:t>Payment_ID, Payment_Date, Amount, Payment_Method,</a:t>
            </a:r>
            <a:br/>
            <a:r>
              <a:rPr sz="1700" b="0">
                <a:solidFill>
                  <a:srgbClr val="282828"/>
                </a:solidFill>
                <a:latin typeface="Aptos"/>
              </a:rPr>
              <a:t>Return_ID, Return_Date, Fuel_Level, Damage_Charges,</a:t>
            </a:r>
            <a:br/>
            <a:r>
              <a:rPr sz="1700" b="0">
                <a:solidFill>
                  <a:srgbClr val="282828"/>
                </a:solidFill>
                <a:latin typeface="Aptos"/>
              </a:rPr>
              <a:t>Admin_ID, Admin_Name, Admin_Username)</a:t>
            </a:r>
          </a:p>
        </p:txBody>
      </p:sp>
      <p:sp>
        <p:nvSpPr>
          <p:cNvPr id="2097188" name="TextBox 2097187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Goal: achieve 1NF → 2NF → 3NF.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UNF may contain repeated rental-related facts and duplicated customer, vehicle, payment and admin details.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Primary key used for the booking transaction: Booking_ID.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1" descr="aditya_logo_crop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472" y="256032"/>
            <a:ext cx="2057400" cy="802037"/>
          </a:xfrm>
          <a:prstGeom prst="rect"/>
        </p:spPr>
      </p:pic>
      <p:sp>
        <p:nvSpPr>
          <p:cNvPr id="1048701" name="TextBox 3"/>
          <p:cNvSpPr txBox="1"/>
          <p:nvPr/>
        </p:nvSpPr>
        <p:spPr>
          <a:xfrm>
            <a:off x="5212080" y="6510528"/>
            <a:ext cx="914400" cy="256540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100" i="0">
                <a:solidFill>
                  <a:srgbClr val="7D7D7D"/>
                </a:solidFill>
                <a:latin typeface="Arial"/>
              </a:rPr>
              <a:t>DBMS</a:t>
            </a:r>
          </a:p>
        </p:txBody>
      </p:sp>
      <p:sp>
        <p:nvSpPr>
          <p:cNvPr id="1048702" name="TextBox 4"/>
          <p:cNvSpPr txBox="1"/>
          <p:nvPr/>
        </p:nvSpPr>
        <p:spPr>
          <a:xfrm>
            <a:off x="6400800" y="6510528"/>
            <a:ext cx="3474720" cy="2565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100" i="0">
                <a:solidFill>
                  <a:srgbClr val="7D7D7D"/>
                </a:solidFill>
                <a:latin typeface="Arial"/>
              </a:rPr>
              <a:t>K Vydehi, Asst Professor, CSE Dept.</a:t>
            </a:r>
          </a:p>
        </p:txBody>
      </p:sp>
      <p:sp>
        <p:nvSpPr>
          <p:cNvPr id="1048703" name="TextBox 5"/>
          <p:cNvSpPr txBox="1"/>
          <p:nvPr/>
        </p:nvSpPr>
        <p:spPr>
          <a:xfrm>
            <a:off x="11292840" y="6492240"/>
            <a:ext cx="320040" cy="421640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1100" i="0">
                <a:solidFill>
                  <a:srgbClr val="7D7D7D"/>
                </a:solidFill>
                <a:latin typeface="Arial"/>
              </a:rPr>
              <a:t>26</a:t>
            </a:r>
          </a:p>
        </p:txBody>
      </p:sp>
      <p:sp>
        <p:nvSpPr>
          <p:cNvPr id="2097185" name="TextBox 2097184"/>
          <p:cNvSpPr txBox="1"/>
          <p:nvPr/>
        </p:nvSpPr>
        <p:spPr>
          <a:xfrm>
            <a:off x="548640" y="960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ptos"/>
              </a:rPr>
              <a:t>1NF – FIRST NORMAL FORM</a:t>
            </a:r>
          </a:p>
        </p:txBody>
      </p:sp>
      <p:sp>
        <p:nvSpPr>
          <p:cNvPr id="2097186" name="TextBox 2097185"/>
          <p:cNvSpPr txBox="1"/>
          <p:nvPr/>
        </p:nvSpPr>
        <p:spPr>
          <a:xfrm>
            <a:off x="64008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Aptos"/>
              </a:rPr>
              <a:t>A relation is in 1NF when every attribute contains a single atomic value and there are no repeating groups or multivalued attributes.</a:t>
            </a:r>
          </a:p>
        </p:txBody>
      </p:sp>
      <p:graphicFrame>
        <p:nvGraphicFramePr>
          <p:cNvPr id="2097187" name="Table 2097186"/>
          <p:cNvGraphicFramePr>
            <a:graphicFrameLocks noGrp="1"/>
          </p:cNvGraphicFramePr>
          <p:nvPr/>
        </p:nvGraphicFramePr>
        <p:xfrm>
          <a:off x="502920" y="23317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Booking_ID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Customer_ID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Customer_Name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Vehicle_ID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Brand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Booking_Date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Pickup_Date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ptos"/>
                        </a:defRPr>
                      </a:pPr>
                      <a:r>
                        <a:t>Return_Date</a:t>
                      </a:r>
                    </a:p>
                  </a:txBody>
                  <a:tcPr marL="50800" marR="50800" marT="38100" marB="38100"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1001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Rahul Kumar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Toyota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05-Jan-26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06-Jan-26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09-Jan-26</a:t>
                      </a:r>
                    </a:p>
                  </a:txBody>
                  <a:tcPr marL="50800" marR="50800" marT="38100" marB="38100"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1002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Priya Sharma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Hyundai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10-Jan-26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11-Jan-26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14-Jan-26</a:t>
                      </a:r>
                    </a:p>
                  </a:txBody>
                  <a:tcPr marL="50800" marR="50800" marT="38100" marB="38100"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1003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Arjun Reddy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103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Maruti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15-Jan-26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16-Jan-26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20-Jan-26</a:t>
                      </a:r>
                    </a:p>
                  </a:txBody>
                  <a:tcPr marL="50800" marR="50800" marT="38100" marB="38100"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1004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Sneha Rao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104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Honda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20-Jan-26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21-Jan-26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Aptos"/>
                        </a:defRPr>
                      </a:pPr>
                      <a:r>
                        <a:t>24-Jan-26</a:t>
                      </a:r>
                    </a:p>
                  </a:txBody>
                  <a:tcPr marL="50800" marR="50800" marT="38100" marB="38100"/>
                </a:tc>
              </a:tr>
            </a:tbl>
          </a:graphicData>
        </a:graphic>
      </p:graphicFrame>
      <p:sp>
        <p:nvSpPr>
          <p:cNvPr id="2097188" name="TextBox 2097187"/>
          <p:cNvSpPr txBox="1"/>
          <p:nvPr/>
        </p:nvSpPr>
        <p:spPr>
          <a:xfrm>
            <a:off x="640080" y="457200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Primary Key: Booking_ID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All values are atomic; one customer, one vehicle and one date value are stored per row.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Functional dependency at this stage: Booking_ID → Customer_ID, Customer_Name, Vehicle_ID, Brand, Booking_Date, Pickup_Date, Return_Date.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5" name="Picture 1" descr="aditya_logo_crop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472" y="256032"/>
            <a:ext cx="2057400" cy="802037"/>
          </a:xfrm>
          <a:prstGeom prst="rect"/>
        </p:spPr>
      </p:pic>
      <p:sp>
        <p:nvSpPr>
          <p:cNvPr id="1048711" name="TextBox 3"/>
          <p:cNvSpPr txBox="1"/>
          <p:nvPr/>
        </p:nvSpPr>
        <p:spPr>
          <a:xfrm>
            <a:off x="5212080" y="6510528"/>
            <a:ext cx="914400" cy="256540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100" i="0">
                <a:solidFill>
                  <a:srgbClr val="7D7D7D"/>
                </a:solidFill>
                <a:latin typeface="Arial"/>
              </a:rPr>
              <a:t>DBMS</a:t>
            </a:r>
          </a:p>
        </p:txBody>
      </p:sp>
      <p:sp>
        <p:nvSpPr>
          <p:cNvPr id="1048712" name="TextBox 4"/>
          <p:cNvSpPr txBox="1"/>
          <p:nvPr/>
        </p:nvSpPr>
        <p:spPr>
          <a:xfrm>
            <a:off x="6400800" y="6510528"/>
            <a:ext cx="3474720" cy="2565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100" i="0">
                <a:solidFill>
                  <a:srgbClr val="7D7D7D"/>
                </a:solidFill>
                <a:latin typeface="Arial"/>
              </a:rPr>
              <a:t>K Vydehi, Asst Professor, CSE Dept.</a:t>
            </a:r>
          </a:p>
        </p:txBody>
      </p:sp>
      <p:sp>
        <p:nvSpPr>
          <p:cNvPr id="1048713" name="TextBox 5"/>
          <p:cNvSpPr txBox="1"/>
          <p:nvPr/>
        </p:nvSpPr>
        <p:spPr>
          <a:xfrm>
            <a:off x="11292840" y="6492240"/>
            <a:ext cx="320040" cy="421640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1100" i="0">
                <a:solidFill>
                  <a:srgbClr val="7D7D7D"/>
                </a:solidFill>
                <a:latin typeface="Arial"/>
              </a:rPr>
              <a:t>27</a:t>
            </a:r>
          </a:p>
        </p:txBody>
      </p:sp>
      <p:sp>
        <p:nvSpPr>
          <p:cNvPr id="2097186" name="TextBox 2097185"/>
          <p:cNvSpPr txBox="1"/>
          <p:nvPr/>
        </p:nvSpPr>
        <p:spPr>
          <a:xfrm>
            <a:off x="548640" y="960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ptos"/>
              </a:rPr>
              <a:t>2NF – SECOND NORMAL FORM</a:t>
            </a:r>
          </a:p>
        </p:txBody>
      </p:sp>
      <p:sp>
        <p:nvSpPr>
          <p:cNvPr id="2097187" name="TextBox 2097186"/>
          <p:cNvSpPr txBox="1"/>
          <p:nvPr/>
        </p:nvSpPr>
        <p:spPr>
          <a:xfrm>
            <a:off x="64008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82828"/>
                </a:solidFill>
                <a:latin typeface="Aptos"/>
              </a:rPr>
              <a:t>2NF = 1NF + no partial dependency of a non-key attribute on part of a composite key.</a:t>
            </a:r>
          </a:p>
        </p:txBody>
      </p:sp>
      <p:sp>
        <p:nvSpPr>
          <p:cNvPr id="2097188" name="TextBox 2097187"/>
          <p:cNvSpPr txBox="1"/>
          <p:nvPr/>
        </p:nvSpPr>
        <p:spPr>
          <a:xfrm>
            <a:off x="640080" y="21488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643C"/>
                </a:solidFill>
                <a:latin typeface="Aptos"/>
              </a:rPr>
              <a:t>For this project, Booking_ID is a single-attribute primary key.</a:t>
            </a:r>
          </a:p>
        </p:txBody>
      </p:sp>
      <p:sp>
        <p:nvSpPr>
          <p:cNvPr id="2097189" name="TextBox 2097188"/>
          <p:cNvSpPr txBox="1"/>
          <p:nvPr/>
        </p:nvSpPr>
        <p:spPr>
          <a:xfrm>
            <a:off x="731520" y="27432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latin typeface="Aptos"/>
              </a:defRPr>
            </a:pPr>
            <a:r>
              <a:t>Because the primary key has only one attribute, there is no 'part of the key'.</a:t>
            </a:r>
          </a:p>
          <a:p>
            <a:pPr>
              <a:spcAft>
                <a:spcPts val="800"/>
              </a:spcAft>
              <a:defRPr sz="1700">
                <a:latin typeface="Aptos"/>
              </a:defRPr>
            </a:pPr>
            <a:r>
              <a:t>Therefore, partial dependency cannot occur.</a:t>
            </a:r>
          </a:p>
          <a:p>
            <a:pPr>
              <a:spcAft>
                <a:spcPts val="800"/>
              </a:spcAft>
              <a:defRPr sz="1700">
                <a:latin typeface="Aptos"/>
              </a:defRPr>
            </a:pPr>
            <a:r>
              <a:t>After checking 1NF, the booking relation already satisfies 2NF.</a:t>
            </a:r>
          </a:p>
          <a:p>
            <a:pPr>
              <a:spcAft>
                <a:spcPts val="800"/>
              </a:spcAft>
              <a:defRPr sz="1700">
                <a:latin typeface="Aptos"/>
              </a:defRPr>
            </a:pPr>
            <a:r>
              <a:t>Do NOT call Customer_ID → Customer_Name or Vehicle_ID → Brand a partial dependency; these are transitive dependencies and are handled in 3NF.</a:t>
            </a:r>
          </a:p>
        </p:txBody>
      </p:sp>
      <p:sp>
        <p:nvSpPr>
          <p:cNvPr id="2097190" name="TextBox 2097189"/>
          <p:cNvSpPr txBox="1"/>
          <p:nvPr/>
        </p:nvSpPr>
        <p:spPr>
          <a:xfrm>
            <a:off x="731520" y="5212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03232"/>
                </a:solidFill>
                <a:latin typeface="Aptos"/>
              </a:rPr>
              <a:t>2NF result: No decomposition is required solely for 2NF.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6" name="Picture 1" descr="aditya_logo_crop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472" y="256032"/>
            <a:ext cx="2057400" cy="802037"/>
          </a:xfrm>
          <a:prstGeom prst="rect"/>
        </p:spPr>
      </p:pic>
      <p:sp>
        <p:nvSpPr>
          <p:cNvPr id="1048723" name="TextBox 3"/>
          <p:cNvSpPr txBox="1"/>
          <p:nvPr/>
        </p:nvSpPr>
        <p:spPr>
          <a:xfrm>
            <a:off x="5212080" y="6510528"/>
            <a:ext cx="914400" cy="256540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100" i="0">
                <a:solidFill>
                  <a:srgbClr val="7D7D7D"/>
                </a:solidFill>
                <a:latin typeface="Arial"/>
              </a:rPr>
              <a:t>DBMS</a:t>
            </a:r>
          </a:p>
        </p:txBody>
      </p:sp>
      <p:sp>
        <p:nvSpPr>
          <p:cNvPr id="1048724" name="TextBox 4"/>
          <p:cNvSpPr txBox="1"/>
          <p:nvPr/>
        </p:nvSpPr>
        <p:spPr>
          <a:xfrm>
            <a:off x="6400800" y="6510528"/>
            <a:ext cx="3474720" cy="2565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100" i="0">
                <a:solidFill>
                  <a:srgbClr val="7D7D7D"/>
                </a:solidFill>
                <a:latin typeface="Arial"/>
              </a:rPr>
              <a:t>K Vydehi, Asst Professor, CSE Dept.</a:t>
            </a:r>
          </a:p>
        </p:txBody>
      </p:sp>
      <p:sp>
        <p:nvSpPr>
          <p:cNvPr id="1048725" name="TextBox 5"/>
          <p:cNvSpPr txBox="1"/>
          <p:nvPr/>
        </p:nvSpPr>
        <p:spPr>
          <a:xfrm>
            <a:off x="11292840" y="6492240"/>
            <a:ext cx="320040" cy="421640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1100" i="0">
                <a:solidFill>
                  <a:srgbClr val="7D7D7D"/>
                </a:solidFill>
                <a:latin typeface="Arial"/>
              </a:rPr>
              <a:t>28</a:t>
            </a:r>
          </a:p>
        </p:txBody>
      </p:sp>
      <p:sp>
        <p:nvSpPr>
          <p:cNvPr id="2097187" name="TextBox 2097186"/>
          <p:cNvSpPr txBox="1"/>
          <p:nvPr/>
        </p:nvSpPr>
        <p:spPr>
          <a:xfrm>
            <a:off x="548640" y="960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ptos"/>
              </a:rPr>
              <a:t>2NF – DEPENDENCY CHECK</a:t>
            </a:r>
          </a:p>
        </p:txBody>
      </p:sp>
      <p:graphicFrame>
        <p:nvGraphicFramePr>
          <p:cNvPr id="2097188" name="Table 2097187"/>
          <p:cNvGraphicFramePr>
            <a:graphicFrameLocks noGrp="1"/>
          </p:cNvGraphicFramePr>
          <p:nvPr/>
        </p:nvGraphicFramePr>
        <p:xfrm>
          <a:off x="594360" y="1645920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Dependency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2NF issue?</a:t>
                      </a:r>
                    </a:p>
                  </a:txBody>
                  <a:tcPr marL="50800" marR="50800" marT="38100" marB="38100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Booking_ID → Booking_Date, Pickup_Date, Return_Date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Full dependency on single PK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50800" marR="50800" marT="38100" marB="38100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Booking_ID → Customer_ID, Vehicle_ID, Admin_ID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Full dependency on single PK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50800" marR="50800" marT="38100" marB="38100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Customer_ID → Customer_Name, Phone, Email, License_No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Transitive dependency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Not a 2NF issue</a:t>
                      </a:r>
                    </a:p>
                  </a:txBody>
                  <a:tcPr marL="50800" marR="50800" marT="38100" marB="38100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Vehicle_ID → Brand, Model, Registration_Number, Rental_Price_Per_Day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Transitive dependency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Not a 2NF issue</a:t>
                      </a:r>
                    </a:p>
                  </a:txBody>
                  <a:tcPr marL="50800" marR="50800" marT="38100" marB="38100"/>
                </a:tc>
              </a:tr>
            </a:tbl>
          </a:graphicData>
        </a:graphic>
      </p:graphicFrame>
      <p:sp>
        <p:nvSpPr>
          <p:cNvPr id="2097189" name="TextBox 2097188"/>
          <p:cNvSpPr txBox="1"/>
          <p:nvPr/>
        </p:nvSpPr>
        <p:spPr>
          <a:xfrm>
            <a:off x="64008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643C"/>
                </a:solidFill>
                <a:latin typeface="Aptos"/>
              </a:rPr>
              <a:t>Correct conclusion</a:t>
            </a:r>
          </a:p>
        </p:txBody>
      </p:sp>
      <p:sp>
        <p:nvSpPr>
          <p:cNvPr id="2097190" name="TextBox 2097189"/>
          <p:cNvSpPr txBox="1"/>
          <p:nvPr/>
        </p:nvSpPr>
        <p:spPr>
          <a:xfrm>
            <a:off x="2743200" y="457200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The project relations use single-column primary keys.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Therefore all project relations are already in 2NF once they are in 1NF.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The remaining redundancy is caused by transitive dependencies, which are removed in 3NF.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7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472" y="256032"/>
            <a:ext cx="2057400" cy="802037"/>
          </a:xfrm>
          <a:prstGeom prst="rect"/>
        </p:spPr>
      </p:pic>
      <p:sp>
        <p:nvSpPr>
          <p:cNvPr id="1048731" name="TextBox 3"/>
          <p:cNvSpPr txBox="1"/>
          <p:nvPr/>
        </p:nvSpPr>
        <p:spPr>
          <a:xfrm>
            <a:off x="5212080" y="6510528"/>
            <a:ext cx="914400" cy="2565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100">
                <a:solidFill>
                  <a:srgbClr val="7D7D7D"/>
                </a:solidFill>
                <a:latin typeface="Arial"/>
              </a:rPr>
              <a:t>DBMS</a:t>
            </a:r>
          </a:p>
        </p:txBody>
      </p:sp>
      <p:sp>
        <p:nvSpPr>
          <p:cNvPr id="1048732" name="TextBox 4"/>
          <p:cNvSpPr txBox="1"/>
          <p:nvPr/>
        </p:nvSpPr>
        <p:spPr>
          <a:xfrm>
            <a:off x="6400800" y="6510528"/>
            <a:ext cx="3474720" cy="2565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7D7D7D"/>
                </a:solidFill>
                <a:latin typeface="Arial"/>
              </a:rPr>
              <a:t>K Vydehi, Asst Professor, CSE Dept.</a:t>
            </a:r>
          </a:p>
        </p:txBody>
      </p:sp>
      <p:sp>
        <p:nvSpPr>
          <p:cNvPr id="1048733" name="TextBox 5"/>
          <p:cNvSpPr txBox="1"/>
          <p:nvPr/>
        </p:nvSpPr>
        <p:spPr>
          <a:xfrm>
            <a:off x="11292840" y="6492240"/>
            <a:ext cx="320040" cy="42164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0" sz="1100">
                <a:solidFill>
                  <a:srgbClr val="7D7D7D"/>
                </a:solidFill>
                <a:latin typeface="Arial"/>
              </a:rPr>
              <a:t>29</a:t>
            </a:r>
          </a:p>
        </p:txBody>
      </p:sp>
      <p:sp>
        <p:nvSpPr>
          <p:cNvPr id="2097188" name="TextBox 2097187"/>
          <p:cNvSpPr txBox="1"/>
          <p:nvPr/>
        </p:nvSpPr>
        <p:spPr>
          <a:xfrm>
            <a:off x="548640" y="960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ptos"/>
              </a:rPr>
              <a:t>3NF – THIRD NORMAL FORM</a:t>
            </a:r>
          </a:p>
        </p:txBody>
      </p:sp>
      <p:sp>
        <p:nvSpPr>
          <p:cNvPr id="2097189" name="TextBox 2097188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82828"/>
                </a:solidFill>
                <a:latin typeface="Aptos"/>
              </a:rPr>
              <a:t>3NF = 2NF + no transitive dependency.</a:t>
            </a:r>
          </a:p>
        </p:txBody>
      </p:sp>
      <p:graphicFrame>
        <p:nvGraphicFramePr>
          <p:cNvPr id="2097190" name="Table 2097189"/>
          <p:cNvGraphicFramePr>
            <a:graphicFrameLocks noGrp="1"/>
          </p:cNvGraphicFramePr>
          <p:nvPr/>
        </p:nvGraphicFramePr>
        <p:xfrm>
          <a:off x="640080" y="2057400"/>
          <a:ext cx="10241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  <a:gridCol w="17068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Booking_ID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Customer_ID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Customer_Name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Vehicle_ID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Brand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latin typeface="Aptos"/>
                        </a:defRPr>
                      </a:pPr>
                      <a:r>
                        <a:t>Booking_Date</a:t>
                      </a:r>
                    </a:p>
                  </a:txBody>
                  <a:tcPr marL="50800" marR="50800" marT="38100" marB="381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1001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Rahul Kumar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Toyota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05-Jan-26</a:t>
                      </a:r>
                    </a:p>
                  </a:txBody>
                  <a:tcPr marL="50800" marR="50800" marT="38100" marB="381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1002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Priya Sharma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Hyundai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10-Jan-26</a:t>
                      </a:r>
                    </a:p>
                  </a:txBody>
                  <a:tcPr marL="50800" marR="50800" marT="38100" marB="381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1003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Arjun Reddy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103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Maruti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15-Jan-26</a:t>
                      </a:r>
                    </a:p>
                  </a:txBody>
                  <a:tcPr marL="50800" marR="50800" marT="38100" marB="381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1004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Sneha Rao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104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Honda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latin typeface="Aptos"/>
                        </a:defRPr>
                      </a:pPr>
                      <a:r>
                        <a:t>20-Jan-26</a:t>
                      </a:r>
                    </a:p>
                  </a:txBody>
                  <a:tcPr marL="50800" marR="50800" marT="38100" marB="38100"/>
                </a:tc>
              </a:tr>
            </a:tbl>
          </a:graphicData>
        </a:graphic>
      </p:graphicFrame>
      <p:sp>
        <p:nvSpPr>
          <p:cNvPr id="2097191" name="TextBox 2097190"/>
          <p:cNvSpPr txBox="1"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643C"/>
                </a:solidFill>
                <a:latin typeface="Aptos"/>
              </a:rPr>
              <a:t>Transitive dependencies</a:t>
            </a:r>
          </a:p>
        </p:txBody>
      </p:sp>
      <p:sp>
        <p:nvSpPr>
          <p:cNvPr id="2097192" name="TextBox 2097191"/>
          <p:cNvSpPr txBox="1"/>
          <p:nvPr/>
        </p:nvSpPr>
        <p:spPr>
          <a:xfrm>
            <a:off x="731520" y="452628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latin typeface="Aptos"/>
              </a:defRPr>
            </a:pPr>
            <a:r>
              <a:t>Booking_ID → Customer_ID → Customer_Name, Customer_Phone, Email, Driving_License_No</a:t>
            </a:r>
          </a:p>
          <a:p>
            <a:pPr>
              <a:spcAft>
                <a:spcPts val="800"/>
              </a:spcAft>
              <a:defRPr sz="1300">
                <a:latin typeface="Aptos"/>
              </a:defRPr>
            </a:pPr>
            <a:r>
              <a:t>Booking_ID → Vehicle_ID → Brand, Model, Registration_Number, Rental_Price_Per_Day</a:t>
            </a:r>
          </a:p>
          <a:p>
            <a:pPr>
              <a:spcAft>
                <a:spcPts val="800"/>
              </a:spcAft>
              <a:defRPr sz="1300">
                <a:latin typeface="Aptos"/>
              </a:defRPr>
            </a:pPr>
            <a:r>
              <a:t>Booking_ID → Admin_ID → Admin_Name, Username, Password</a:t>
            </a:r>
          </a:p>
          <a:p>
            <a:pPr>
              <a:spcAft>
                <a:spcPts val="800"/>
              </a:spcAft>
              <a:defRPr sz="1300">
                <a:latin typeface="Aptos"/>
              </a:defRPr>
            </a:pPr>
            <a:r>
              <a:t>Booking_ID → Payment_ID → Payment_Date, Amount, Payment_Method</a:t>
            </a:r>
          </a:p>
          <a:p>
            <a:pPr>
              <a:spcAft>
                <a:spcPts val="800"/>
              </a:spcAft>
              <a:defRPr sz="1300">
                <a:latin typeface="Aptos"/>
              </a:defRPr>
            </a:pPr>
            <a:r>
              <a:t>Booking_ID → Return_ID → Return_Date, Fuel_Level, Damage_Charges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8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472" y="256032"/>
            <a:ext cx="2057400" cy="802037"/>
          </a:xfrm>
          <a:prstGeom prst="rect"/>
        </p:spPr>
      </p:pic>
      <p:sp>
        <p:nvSpPr>
          <p:cNvPr id="1048742" name="TextBox 3"/>
          <p:cNvSpPr txBox="1"/>
          <p:nvPr/>
        </p:nvSpPr>
        <p:spPr>
          <a:xfrm>
            <a:off x="5212080" y="6510528"/>
            <a:ext cx="914400" cy="2565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100">
                <a:solidFill>
                  <a:srgbClr val="7D7D7D"/>
                </a:solidFill>
                <a:latin typeface="Arial"/>
              </a:rPr>
              <a:t>DBMS</a:t>
            </a:r>
          </a:p>
        </p:txBody>
      </p:sp>
      <p:sp>
        <p:nvSpPr>
          <p:cNvPr id="1048743" name="TextBox 4"/>
          <p:cNvSpPr txBox="1"/>
          <p:nvPr/>
        </p:nvSpPr>
        <p:spPr>
          <a:xfrm>
            <a:off x="6400800" y="6510528"/>
            <a:ext cx="3474720" cy="2565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7D7D7D"/>
                </a:solidFill>
                <a:latin typeface="Arial"/>
              </a:rPr>
              <a:t>K Vydehi, Asst Professor, CSE Dept.</a:t>
            </a:r>
          </a:p>
        </p:txBody>
      </p:sp>
      <p:sp>
        <p:nvSpPr>
          <p:cNvPr id="1048744" name="TextBox 5"/>
          <p:cNvSpPr txBox="1"/>
          <p:nvPr/>
        </p:nvSpPr>
        <p:spPr>
          <a:xfrm>
            <a:off x="11292840" y="6492240"/>
            <a:ext cx="320040" cy="42164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0" sz="1100">
                <a:solidFill>
                  <a:srgbClr val="7D7D7D"/>
                </a:solidFill>
                <a:latin typeface="Arial"/>
              </a:rPr>
              <a:t>30</a:t>
            </a:r>
          </a:p>
        </p:txBody>
      </p:sp>
      <p:sp>
        <p:nvSpPr>
          <p:cNvPr id="2097189" name="TextBox 2097188"/>
          <p:cNvSpPr txBox="1"/>
          <p:nvPr/>
        </p:nvSpPr>
        <p:spPr>
          <a:xfrm>
            <a:off x="548640" y="960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ptos"/>
              </a:rPr>
              <a:t>3NF DECOMPOSITION</a:t>
            </a:r>
          </a:p>
        </p:txBody>
      </p:sp>
      <p:sp>
        <p:nvSpPr>
          <p:cNvPr id="2097190" name="TextBox 2097189"/>
          <p:cNvSpPr txBox="1"/>
          <p:nvPr/>
        </p:nvSpPr>
        <p:spPr>
          <a:xfrm>
            <a:off x="640080" y="1417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Aptos"/>
              </a:rPr>
              <a:t>Separate attributes so every non-key attribute depends on the key, the whole key, and nothing but the key.</a:t>
            </a:r>
          </a:p>
        </p:txBody>
      </p:sp>
      <p:sp>
        <p:nvSpPr>
          <p:cNvPr id="2097191" name="TextBox 2097190"/>
          <p:cNvSpPr txBox="1"/>
          <p:nvPr/>
        </p:nvSpPr>
        <p:spPr>
          <a:xfrm>
            <a:off x="685800" y="214884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43C"/>
                </a:solidFill>
                <a:latin typeface="Aptos"/>
              </a:rPr>
              <a:t>CUSTOMER</a:t>
            </a:r>
          </a:p>
        </p:txBody>
      </p:sp>
      <p:sp>
        <p:nvSpPr>
          <p:cNvPr id="2097192" name="TextBox 2097191"/>
          <p:cNvSpPr txBox="1"/>
          <p:nvPr/>
        </p:nvSpPr>
        <p:spPr>
          <a:xfrm>
            <a:off x="2240280" y="2148840"/>
            <a:ext cx="8869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Aptos"/>
              </a:rPr>
              <a:t>Customer_ID (PK), Name, Phone, Email, Driving_License_No</a:t>
            </a:r>
          </a:p>
        </p:txBody>
      </p:sp>
      <p:sp>
        <p:nvSpPr>
          <p:cNvPr id="2097193" name="TextBox 2097192"/>
          <p:cNvSpPr txBox="1"/>
          <p:nvPr/>
        </p:nvSpPr>
        <p:spPr>
          <a:xfrm>
            <a:off x="685800" y="271576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43C"/>
                </a:solidFill>
                <a:latin typeface="Aptos"/>
              </a:rPr>
              <a:t>VEHICLE</a:t>
            </a:r>
          </a:p>
        </p:txBody>
      </p:sp>
      <p:sp>
        <p:nvSpPr>
          <p:cNvPr id="2097194" name="TextBox 2097193"/>
          <p:cNvSpPr txBox="1"/>
          <p:nvPr/>
        </p:nvSpPr>
        <p:spPr>
          <a:xfrm>
            <a:off x="2240280" y="2715768"/>
            <a:ext cx="8869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Aptos"/>
              </a:rPr>
              <a:t>Vehicle_ID (PK), Brand, Model, Registration_Number, Rental_Price_Per_Day, Availability_Status</a:t>
            </a:r>
          </a:p>
        </p:txBody>
      </p:sp>
      <p:sp>
        <p:nvSpPr>
          <p:cNvPr id="2097195" name="TextBox 2097194"/>
          <p:cNvSpPr txBox="1"/>
          <p:nvPr/>
        </p:nvSpPr>
        <p:spPr>
          <a:xfrm>
            <a:off x="685800" y="328269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43C"/>
                </a:solidFill>
                <a:latin typeface="Aptos"/>
              </a:rPr>
              <a:t>ADMIN</a:t>
            </a:r>
          </a:p>
        </p:txBody>
      </p:sp>
      <p:sp>
        <p:nvSpPr>
          <p:cNvPr id="2097196" name="TextBox 2097195"/>
          <p:cNvSpPr txBox="1"/>
          <p:nvPr/>
        </p:nvSpPr>
        <p:spPr>
          <a:xfrm>
            <a:off x="2240280" y="3282696"/>
            <a:ext cx="8869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Aptos"/>
              </a:rPr>
              <a:t>Admin_ID (PK), Name, Username, Password, Contact_Number</a:t>
            </a:r>
          </a:p>
        </p:txBody>
      </p:sp>
      <p:sp>
        <p:nvSpPr>
          <p:cNvPr id="2097197" name="TextBox 2097196"/>
          <p:cNvSpPr txBox="1"/>
          <p:nvPr/>
        </p:nvSpPr>
        <p:spPr>
          <a:xfrm>
            <a:off x="685800" y="3849624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43C"/>
                </a:solidFill>
                <a:latin typeface="Aptos"/>
              </a:rPr>
              <a:t>BOOKING</a:t>
            </a:r>
          </a:p>
        </p:txBody>
      </p:sp>
      <p:sp>
        <p:nvSpPr>
          <p:cNvPr id="2097198" name="TextBox 2097197"/>
          <p:cNvSpPr txBox="1"/>
          <p:nvPr/>
        </p:nvSpPr>
        <p:spPr>
          <a:xfrm>
            <a:off x="2240280" y="3849624"/>
            <a:ext cx="8869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Aptos"/>
              </a:rPr>
              <a:t>Booking_ID (PK), Booking_Date, Pickup_Date, Return_Date, Booking_Status, Customer_ID (FK), Vehicle_ID (FK), Admin_ID (FK)</a:t>
            </a:r>
          </a:p>
        </p:txBody>
      </p:sp>
      <p:sp>
        <p:nvSpPr>
          <p:cNvPr id="2097199" name="TextBox 2097198"/>
          <p:cNvSpPr txBox="1"/>
          <p:nvPr/>
        </p:nvSpPr>
        <p:spPr>
          <a:xfrm>
            <a:off x="685800" y="441655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43C"/>
                </a:solidFill>
                <a:latin typeface="Aptos"/>
              </a:rPr>
              <a:t>PAYMENT</a:t>
            </a:r>
          </a:p>
        </p:txBody>
      </p:sp>
      <p:sp>
        <p:nvSpPr>
          <p:cNvPr id="2097200" name="TextBox 2097199"/>
          <p:cNvSpPr txBox="1"/>
          <p:nvPr/>
        </p:nvSpPr>
        <p:spPr>
          <a:xfrm>
            <a:off x="2240280" y="4416552"/>
            <a:ext cx="8869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Aptos"/>
              </a:rPr>
              <a:t>Payment_ID (PK), Payment_Date, Amount, Payment_Method, Payment_Status, Booking_ID (FK)</a:t>
            </a:r>
          </a:p>
        </p:txBody>
      </p:sp>
      <p:sp>
        <p:nvSpPr>
          <p:cNvPr id="2097201" name="TextBox 2097200"/>
          <p:cNvSpPr txBox="1"/>
          <p:nvPr/>
        </p:nvSpPr>
        <p:spPr>
          <a:xfrm>
            <a:off x="685800" y="498348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43C"/>
                </a:solidFill>
                <a:latin typeface="Aptos"/>
              </a:rPr>
              <a:t>RETURN_RECORD</a:t>
            </a:r>
          </a:p>
        </p:txBody>
      </p:sp>
      <p:sp>
        <p:nvSpPr>
          <p:cNvPr id="2097202" name="TextBox 2097201"/>
          <p:cNvSpPr txBox="1"/>
          <p:nvPr/>
        </p:nvSpPr>
        <p:spPr>
          <a:xfrm>
            <a:off x="2240280" y="4983480"/>
            <a:ext cx="8869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Aptos"/>
              </a:rPr>
              <a:t>Return_ID (PK), Return_Date, Fuel_Level, Damage_Charges, Booking_ID (FK)</a:t>
            </a:r>
          </a:p>
        </p:txBody>
      </p:sp>
      <p:sp>
        <p:nvSpPr>
          <p:cNvPr id="2097203" name="TextBox 2097202"/>
          <p:cNvSpPr txBox="1"/>
          <p:nvPr/>
        </p:nvSpPr>
        <p:spPr>
          <a:xfrm>
            <a:off x="73152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03232"/>
                </a:solidFill>
                <a:latin typeface="Aptos"/>
              </a:rPr>
              <a:t>Each foreign key preserves the relationship between the decomposed relations.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9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472" y="256032"/>
            <a:ext cx="2057400" cy="802037"/>
          </a:xfrm>
          <a:prstGeom prst="rect"/>
        </p:spPr>
      </p:pic>
      <p:sp>
        <p:nvSpPr>
          <p:cNvPr id="1048753" name="TextBox 3"/>
          <p:cNvSpPr txBox="1"/>
          <p:nvPr/>
        </p:nvSpPr>
        <p:spPr>
          <a:xfrm>
            <a:off x="5212080" y="6510528"/>
            <a:ext cx="914400" cy="2565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100">
                <a:solidFill>
                  <a:srgbClr val="7D7D7D"/>
                </a:solidFill>
                <a:latin typeface="Arial"/>
              </a:rPr>
              <a:t>DBMS</a:t>
            </a:r>
          </a:p>
        </p:txBody>
      </p:sp>
      <p:sp>
        <p:nvSpPr>
          <p:cNvPr id="1048754" name="TextBox 4"/>
          <p:cNvSpPr txBox="1"/>
          <p:nvPr/>
        </p:nvSpPr>
        <p:spPr>
          <a:xfrm>
            <a:off x="6400800" y="6510528"/>
            <a:ext cx="3474720" cy="2565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7D7D7D"/>
                </a:solidFill>
                <a:latin typeface="Arial"/>
              </a:rPr>
              <a:t>K Vydehi, Asst Professor, CSE Dept.</a:t>
            </a:r>
          </a:p>
        </p:txBody>
      </p:sp>
      <p:sp>
        <p:nvSpPr>
          <p:cNvPr id="1048755" name="TextBox 5"/>
          <p:cNvSpPr txBox="1"/>
          <p:nvPr/>
        </p:nvSpPr>
        <p:spPr>
          <a:xfrm>
            <a:off x="11292840" y="6492240"/>
            <a:ext cx="320040" cy="42164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0" sz="1100">
                <a:solidFill>
                  <a:srgbClr val="7D7D7D"/>
                </a:solidFill>
                <a:latin typeface="Arial"/>
              </a:rPr>
              <a:t>31</a:t>
            </a:r>
          </a:p>
        </p:txBody>
      </p:sp>
      <p:sp>
        <p:nvSpPr>
          <p:cNvPr id="2097190" name="TextBox 2097189"/>
          <p:cNvSpPr txBox="1"/>
          <p:nvPr/>
        </p:nvSpPr>
        <p:spPr>
          <a:xfrm>
            <a:off x="548640" y="960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ptos"/>
              </a:rPr>
              <a:t>FINAL 3NF RELATIONS</a:t>
            </a:r>
          </a:p>
        </p:txBody>
      </p:sp>
      <p:sp>
        <p:nvSpPr>
          <p:cNvPr id="2097191" name="TextBox 2097190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Aptos"/>
              </a:rPr>
              <a:t>Final schema used by the Vehicle Rental Management System</a:t>
            </a:r>
          </a:p>
        </p:txBody>
      </p:sp>
      <p:graphicFrame>
        <p:nvGraphicFramePr>
          <p:cNvPr id="2097192" name="Table 2097191"/>
          <p:cNvGraphicFramePr>
            <a:graphicFrameLocks noGrp="1"/>
          </p:cNvGraphicFramePr>
          <p:nvPr/>
        </p:nvGraphicFramePr>
        <p:xfrm>
          <a:off x="731520" y="2011680"/>
          <a:ext cx="10058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44137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Aptos"/>
                        </a:defRPr>
                      </a:pPr>
                      <a:r>
                        <a:t>Relation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Aptos"/>
                        </a:defRPr>
                      </a:pPr>
                      <a:r>
                        <a:t>Primary Key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Aptos"/>
                        </a:defRPr>
                      </a:pPr>
                      <a:r>
                        <a:t>Important Foreign Keys</a:t>
                      </a:r>
                    </a:p>
                  </a:txBody>
                  <a:tcPr marL="50800" marR="50800" marT="38100" marB="38100"/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Customer_ID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0800" marR="50800" marT="38100" marB="38100"/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VEHICLE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Vehicle_ID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0800" marR="50800" marT="38100" marB="38100"/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ADMIN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Admin_ID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0800" marR="50800" marT="38100" marB="38100"/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BOOKING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Booking_ID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Customer_ID, Vehicle_ID, Admin_ID</a:t>
                      </a:r>
                    </a:p>
                  </a:txBody>
                  <a:tcPr marL="50800" marR="50800" marT="38100" marB="38100"/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PAYMENT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Payment_ID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Booking_ID</a:t>
                      </a:r>
                    </a:p>
                  </a:txBody>
                  <a:tcPr marL="50800" marR="50800" marT="38100" marB="38100"/>
                </a:tc>
              </a:tr>
              <a:tr h="444138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RETURN_RECORD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Return_ID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Booking_ID</a:t>
                      </a:r>
                    </a:p>
                  </a:txBody>
                  <a:tcPr marL="50800" marR="50800" marT="38100" marB="38100"/>
                </a:tc>
              </a:tr>
            </a:tbl>
          </a:graphicData>
        </a:graphic>
      </p:graphicFrame>
      <p:sp>
        <p:nvSpPr>
          <p:cNvPr id="2097193" name="TextBox 2097192"/>
          <p:cNvSpPr txBox="1"/>
          <p:nvPr/>
        </p:nvSpPr>
        <p:spPr>
          <a:xfrm>
            <a:off x="822960" y="53492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Customer, vehicle and admin descriptive data are stored once.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Booking stores transaction-specific data and references the related entities.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Payment and return details are separated into their own relations.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0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472" y="256032"/>
            <a:ext cx="2057400" cy="802037"/>
          </a:xfrm>
          <a:prstGeom prst="rect"/>
        </p:spPr>
      </p:pic>
      <p:sp>
        <p:nvSpPr>
          <p:cNvPr id="1048777" name="TextBox 3"/>
          <p:cNvSpPr txBox="1"/>
          <p:nvPr/>
        </p:nvSpPr>
        <p:spPr>
          <a:xfrm>
            <a:off x="5212080" y="6510528"/>
            <a:ext cx="914400" cy="2565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sz="1100">
                <a:solidFill>
                  <a:srgbClr val="7D7D7D"/>
                </a:solidFill>
                <a:latin typeface="Arial"/>
              </a:rPr>
              <a:t>DBMS</a:t>
            </a:r>
          </a:p>
        </p:txBody>
      </p:sp>
      <p:sp>
        <p:nvSpPr>
          <p:cNvPr id="1048778" name="TextBox 4"/>
          <p:cNvSpPr txBox="1"/>
          <p:nvPr/>
        </p:nvSpPr>
        <p:spPr>
          <a:xfrm>
            <a:off x="6400800" y="6510528"/>
            <a:ext cx="3474720" cy="256540"/>
          </a:xfrm>
          <a:prstGeom prst="rect"/>
          <a:noFill/>
        </p:spPr>
        <p:txBody>
          <a:bodyPr wrap="square">
            <a:spAutoFit/>
          </a:bodyPr>
          <a:p>
            <a:pPr algn="l"/>
            <a:r>
              <a:rPr b="1" sz="1100">
                <a:solidFill>
                  <a:srgbClr val="7D7D7D"/>
                </a:solidFill>
                <a:latin typeface="Arial"/>
              </a:rPr>
              <a:t>K Vydehi, Asst Professor, CSE Dept.</a:t>
            </a:r>
          </a:p>
        </p:txBody>
      </p:sp>
      <p:sp>
        <p:nvSpPr>
          <p:cNvPr id="1048779" name="TextBox 5"/>
          <p:cNvSpPr txBox="1"/>
          <p:nvPr/>
        </p:nvSpPr>
        <p:spPr>
          <a:xfrm>
            <a:off x="11292840" y="6492240"/>
            <a:ext cx="320040" cy="421640"/>
          </a:xfrm>
          <a:prstGeom prst="rect"/>
          <a:noFill/>
        </p:spPr>
        <p:txBody>
          <a:bodyPr wrap="square">
            <a:spAutoFit/>
          </a:bodyPr>
          <a:p>
            <a:pPr algn="r"/>
            <a:r>
              <a:rPr b="0" sz="1100">
                <a:solidFill>
                  <a:srgbClr val="7D7D7D"/>
                </a:solidFill>
                <a:latin typeface="Arial"/>
              </a:rPr>
              <a:t>32</a:t>
            </a:r>
          </a:p>
        </p:txBody>
      </p:sp>
      <p:sp>
        <p:nvSpPr>
          <p:cNvPr id="2097191" name="TextBox 2097190"/>
          <p:cNvSpPr txBox="1"/>
          <p:nvPr/>
        </p:nvSpPr>
        <p:spPr>
          <a:xfrm>
            <a:off x="548640" y="960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Aptos"/>
              </a:rPr>
              <a:t>3NF – FINAL RESULT</a:t>
            </a:r>
          </a:p>
        </p:txBody>
      </p:sp>
      <p:graphicFrame>
        <p:nvGraphicFramePr>
          <p:cNvPr id="2097192" name="Table 2097191"/>
          <p:cNvGraphicFramePr>
            <a:graphicFrameLocks noGrp="1"/>
          </p:cNvGraphicFramePr>
          <p:nvPr/>
        </p:nvGraphicFramePr>
        <p:xfrm>
          <a:off x="685800" y="1691640"/>
          <a:ext cx="10424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Aptos"/>
                        </a:defRPr>
                      </a:pPr>
                      <a:r>
                        <a:t>Relation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Aptos"/>
                        </a:defRPr>
                      </a:pPr>
                      <a:r>
                        <a:t>Sample PK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50800" marR="50800" marT="38100" marB="38100"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Rahul Kumar</a:t>
                      </a:r>
                    </a:p>
                  </a:txBody>
                  <a:tcPr marL="50800" marR="50800" marT="38100" marB="38100"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VEHICLE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Toyota Innova</a:t>
                      </a:r>
                    </a:p>
                  </a:txBody>
                  <a:tcPr marL="50800" marR="50800" marT="38100" marB="38100"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ADMIN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Admin User</a:t>
                      </a:r>
                    </a:p>
                  </a:txBody>
                  <a:tcPr marL="50800" marR="50800" marT="38100" marB="38100"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BOOKING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1001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Customer 1 + Vehicle 101</a:t>
                      </a:r>
                    </a:p>
                  </a:txBody>
                  <a:tcPr marL="50800" marR="50800" marT="38100" marB="38100"/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PAYMENT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5001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Booking 1001 – ₹7500 – UPI</a:t>
                      </a:r>
                    </a:p>
                  </a:txBody>
                  <a:tcPr marL="50800" marR="50800" marT="38100" marB="38100"/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RETURN_RECORD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9001</a:t>
                      </a:r>
                    </a:p>
                  </a:txBody>
                  <a:tcPr marL="50800" marR="50800" marT="38100" marB="38100"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latin typeface="Aptos"/>
                        </a:defRPr>
                      </a:pPr>
                      <a:r>
                        <a:t>Booking 1001 – Fuel 80%</a:t>
                      </a:r>
                    </a:p>
                  </a:txBody>
                  <a:tcPr marL="50800" marR="50800" marT="38100" marB="38100"/>
                </a:tc>
              </a:tr>
            </a:tbl>
          </a:graphicData>
        </a:graphic>
      </p:graphicFrame>
      <p:sp>
        <p:nvSpPr>
          <p:cNvPr id="2097193" name="TextBox 2097192"/>
          <p:cNvSpPr txBox="1"/>
          <p:nvPr/>
        </p:nvSpPr>
        <p:spPr>
          <a:xfrm>
            <a:off x="68580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643C"/>
                </a:solidFill>
                <a:latin typeface="Aptos"/>
              </a:rPr>
              <a:t>3NF RESULT</a:t>
            </a:r>
          </a:p>
        </p:txBody>
      </p:sp>
      <p:sp>
        <p:nvSpPr>
          <p:cNvPr id="2097194" name="TextBox 2097193"/>
          <p:cNvSpPr txBox="1"/>
          <p:nvPr/>
        </p:nvSpPr>
        <p:spPr>
          <a:xfrm>
            <a:off x="2468880" y="507492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No partial dependency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No transitive dependency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Reduced redundancy and update anomalies</a:t>
            </a:r>
          </a:p>
          <a:p>
            <a:pPr>
              <a:spcAft>
                <a:spcPts val="800"/>
              </a:spcAft>
              <a:defRPr sz="1500">
                <a:latin typeface="Aptos"/>
              </a:defRPr>
            </a:pPr>
            <a:r>
              <a:t>Better consistency and easier maintenance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TextBox 1"/>
          <p:cNvSpPr txBox="1"/>
          <p:nvPr/>
        </p:nvSpPr>
        <p:spPr>
          <a:xfrm>
            <a:off x="813816" y="502920"/>
            <a:ext cx="10561320" cy="4810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3000">
                <a:solidFill>
                  <a:srgbClr val="C6521E"/>
                </a:solidFill>
                <a:latin typeface="Times New Roman"/>
              </a:rPr>
              <a:t>7. Relationships &amp; Cardinality</a:t>
            </a:r>
          </a:p>
        </p:txBody>
      </p:sp>
      <p:sp>
        <p:nvSpPr>
          <p:cNvPr id="1048789" name="TextBox 2"/>
          <p:cNvSpPr txBox="1"/>
          <p:nvPr/>
        </p:nvSpPr>
        <p:spPr>
          <a:xfrm>
            <a:off x="868680" y="1508760"/>
            <a:ext cx="10515600" cy="20177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Customer → Booking = 1:M – one customer can make many bookings.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Vehicle → Booking = 1:M – one vehicle can have many bookings over different dates.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Booking → Payment = 1:1 – each booking has one payment record in this project model.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Booking → Return = 1:1 – each completed booking has one return record.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Admin → Operations = 1:M – one admin can manage many rental operations.</a:t>
            </a:r>
          </a:p>
        </p:txBody>
      </p:sp>
      <p:sp>
        <p:nvSpPr>
          <p:cNvPr id="1048790" name="TextBox 4"/>
          <p:cNvSpPr txBox="1"/>
          <p:nvPr/>
        </p:nvSpPr>
        <p:spPr>
          <a:xfrm>
            <a:off x="3657600" y="6281928"/>
            <a:ext cx="109728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791" name="TextBox 5"/>
          <p:cNvSpPr txBox="1"/>
          <p:nvPr/>
        </p:nvSpPr>
        <p:spPr>
          <a:xfrm>
            <a:off x="5486400" y="6281928"/>
            <a:ext cx="3657600" cy="176276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792" name="TextBox 6"/>
          <p:cNvSpPr txBox="1"/>
          <p:nvPr/>
        </p:nvSpPr>
        <p:spPr>
          <a:xfrm>
            <a:off x="10287000" y="6355080"/>
            <a:ext cx="731520" cy="176277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TextBox 1"/>
          <p:cNvSpPr txBox="1"/>
          <p:nvPr/>
        </p:nvSpPr>
        <p:spPr>
          <a:xfrm>
            <a:off x="813816" y="502920"/>
            <a:ext cx="10561320" cy="991041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dirty="0" sz="3000">
                <a:solidFill>
                  <a:srgbClr val="C6521E"/>
                </a:solidFill>
                <a:latin typeface="Times New Roman"/>
              </a:rPr>
              <a:t>8.</a:t>
            </a:r>
            <a:r>
              <a:rPr b="1" dirty="0" sz="3200" lang="en-IN">
                <a:solidFill>
                  <a:srgbClr val="1F4E79"/>
                </a:solidFill>
                <a:latin typeface="Times New Roman"/>
              </a:rPr>
              <a:t> </a:t>
            </a:r>
            <a:r>
              <a:rPr b="1" dirty="0" sz="3200" lang="en-IN">
                <a:solidFill>
                  <a:schemeClr val="accent2">
                    <a:lumMod val="75000"/>
                  </a:schemeClr>
                </a:solidFill>
                <a:latin typeface="Times New Roman"/>
              </a:rPr>
              <a:t>Relation Schema</a:t>
            </a:r>
          </a:p>
          <a:p>
            <a:pPr algn="ctr"/>
            <a:r>
              <a:rPr b="1" dirty="0" sz="3000">
                <a:solidFill>
                  <a:srgbClr val="C6521E"/>
                </a:solidFill>
                <a:latin typeface="Times New Roman"/>
              </a:rPr>
              <a:t> </a:t>
            </a:r>
          </a:p>
        </p:txBody>
      </p:sp>
      <p:sp>
        <p:nvSpPr>
          <p:cNvPr id="1048794" name="TextBox 4"/>
          <p:cNvSpPr txBox="1"/>
          <p:nvPr/>
        </p:nvSpPr>
        <p:spPr>
          <a:xfrm>
            <a:off x="3657600" y="6281928"/>
            <a:ext cx="109728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795" name="TextBox 5"/>
          <p:cNvSpPr txBox="1"/>
          <p:nvPr/>
        </p:nvSpPr>
        <p:spPr>
          <a:xfrm>
            <a:off x="5486400" y="6281928"/>
            <a:ext cx="365760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796" name="TextBox 6"/>
          <p:cNvSpPr txBox="1"/>
          <p:nvPr/>
        </p:nvSpPr>
        <p:spPr>
          <a:xfrm>
            <a:off x="10287000" y="6355080"/>
            <a:ext cx="73152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9</a:t>
            </a:r>
          </a:p>
        </p:txBody>
      </p:sp>
      <p:sp>
        <p:nvSpPr>
          <p:cNvPr id="1048797" name="TextBox 8"/>
          <p:cNvSpPr txBox="1"/>
          <p:nvPr/>
        </p:nvSpPr>
        <p:spPr>
          <a:xfrm>
            <a:off x="518160" y="1023896"/>
            <a:ext cx="4314001" cy="646331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>
                <a:solidFill>
                  <a:srgbClr val="696969"/>
                </a:solidFill>
                <a:latin typeface="Times New Roman"/>
              </a:rPr>
              <a:t>Relational tables derived from the ER model</a:t>
            </a:r>
          </a:p>
          <a:p>
            <a:endParaRPr dirty="0" lang="en-IN"/>
          </a:p>
        </p:txBody>
      </p:sp>
      <p:sp>
        <p:nvSpPr>
          <p:cNvPr id="1048798" name="Rounded Rectangle 3"/>
          <p:cNvSpPr/>
          <p:nvPr/>
        </p:nvSpPr>
        <p:spPr>
          <a:xfrm>
            <a:off x="701040" y="1531620"/>
            <a:ext cx="5303520" cy="1051560"/>
          </a:xfrm>
          <a:prstGeom prst="roundRect"/>
          <a:solidFill>
            <a:srgbClr val="DDEBF7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048799" name="TextBox 4"/>
          <p:cNvSpPr txBox="1"/>
          <p:nvPr/>
        </p:nvSpPr>
        <p:spPr>
          <a:xfrm>
            <a:off x="865632" y="1641348"/>
            <a:ext cx="1280160" cy="274320"/>
          </a:xfrm>
          <a:prstGeom prst="rect"/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1400">
                <a:solidFill>
                  <a:srgbClr val="1F4E79"/>
                </a:solidFill>
                <a:latin typeface="Arial"/>
              </a:rPr>
              <a:t>CUSTOMER</a:t>
            </a:r>
          </a:p>
        </p:txBody>
      </p:sp>
      <p:sp>
        <p:nvSpPr>
          <p:cNvPr id="1048800" name="TextBox 5"/>
          <p:cNvSpPr txBox="1"/>
          <p:nvPr/>
        </p:nvSpPr>
        <p:spPr>
          <a:xfrm>
            <a:off x="2118360" y="1604772"/>
            <a:ext cx="3657600" cy="822960"/>
          </a:xfrm>
          <a:prstGeom prst="rect"/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050">
                <a:solidFill>
                  <a:srgbClr val="2D2D2D"/>
                </a:solidFill>
                <a:latin typeface="Arial"/>
              </a:rPr>
              <a:t>Customer_ID (PK), Name, Phone, Email, Address, Driving_License_No</a:t>
            </a:r>
          </a:p>
        </p:txBody>
      </p:sp>
      <p:sp>
        <p:nvSpPr>
          <p:cNvPr id="1048801" name="Rounded Rectangle 6"/>
          <p:cNvSpPr/>
          <p:nvPr/>
        </p:nvSpPr>
        <p:spPr>
          <a:xfrm>
            <a:off x="6187440" y="1531620"/>
            <a:ext cx="5303520" cy="1051560"/>
          </a:xfrm>
          <a:prstGeom prst="roundRect"/>
          <a:solidFill>
            <a:srgbClr val="DDEBF7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048802" name="TextBox 7"/>
          <p:cNvSpPr txBox="1"/>
          <p:nvPr/>
        </p:nvSpPr>
        <p:spPr>
          <a:xfrm>
            <a:off x="6352032" y="1641348"/>
            <a:ext cx="1280160" cy="274320"/>
          </a:xfrm>
          <a:prstGeom prst="rect"/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1400">
                <a:solidFill>
                  <a:srgbClr val="1F4E79"/>
                </a:solidFill>
                <a:latin typeface="Arial"/>
              </a:rPr>
              <a:t>VEHICLE</a:t>
            </a:r>
          </a:p>
        </p:txBody>
      </p:sp>
      <p:sp>
        <p:nvSpPr>
          <p:cNvPr id="1048803" name="TextBox 8"/>
          <p:cNvSpPr txBox="1"/>
          <p:nvPr/>
        </p:nvSpPr>
        <p:spPr>
          <a:xfrm>
            <a:off x="7604760" y="1604772"/>
            <a:ext cx="3657600" cy="822960"/>
          </a:xfrm>
          <a:prstGeom prst="rect"/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050">
                <a:solidFill>
                  <a:srgbClr val="2D2D2D"/>
                </a:solidFill>
                <a:latin typeface="Arial"/>
              </a:rPr>
              <a:t>Vehicle_ID (PK), Vehicle_Name, Brand, Model, Registration_Number, Rental_Price_Per_Day, Availability_Status</a:t>
            </a:r>
          </a:p>
        </p:txBody>
      </p:sp>
      <p:sp>
        <p:nvSpPr>
          <p:cNvPr id="1048804" name="Rounded Rectangle 9"/>
          <p:cNvSpPr/>
          <p:nvPr/>
        </p:nvSpPr>
        <p:spPr>
          <a:xfrm>
            <a:off x="701040" y="2903220"/>
            <a:ext cx="5303520" cy="1051560"/>
          </a:xfrm>
          <a:prstGeom prst="roundRect"/>
          <a:solidFill>
            <a:srgbClr val="DDEBF7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048805" name="TextBox 10"/>
          <p:cNvSpPr txBox="1"/>
          <p:nvPr/>
        </p:nvSpPr>
        <p:spPr>
          <a:xfrm>
            <a:off x="865632" y="3012948"/>
            <a:ext cx="1280160" cy="274320"/>
          </a:xfrm>
          <a:prstGeom prst="rect"/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1400">
                <a:solidFill>
                  <a:srgbClr val="1F4E79"/>
                </a:solidFill>
                <a:latin typeface="Arial"/>
              </a:rPr>
              <a:t>BOOKING</a:t>
            </a:r>
          </a:p>
        </p:txBody>
      </p:sp>
      <p:sp>
        <p:nvSpPr>
          <p:cNvPr id="1048806" name="TextBox 11"/>
          <p:cNvSpPr txBox="1"/>
          <p:nvPr/>
        </p:nvSpPr>
        <p:spPr>
          <a:xfrm>
            <a:off x="2118360" y="2976372"/>
            <a:ext cx="3657600" cy="822960"/>
          </a:xfrm>
          <a:prstGeom prst="rect"/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050">
                <a:solidFill>
                  <a:srgbClr val="2D2D2D"/>
                </a:solidFill>
                <a:latin typeface="Arial"/>
              </a:rPr>
              <a:t>Booking_ID (PK), Booking_Date, Pickup_Date, Return_Date, Booking_Status, Customer_ID (FK), Vehicle_ID (FK)</a:t>
            </a:r>
          </a:p>
        </p:txBody>
      </p:sp>
      <p:sp>
        <p:nvSpPr>
          <p:cNvPr id="1048807" name="Rounded Rectangle 12"/>
          <p:cNvSpPr/>
          <p:nvPr/>
        </p:nvSpPr>
        <p:spPr>
          <a:xfrm>
            <a:off x="6187440" y="2903220"/>
            <a:ext cx="5303520" cy="1051560"/>
          </a:xfrm>
          <a:prstGeom prst="roundRect"/>
          <a:solidFill>
            <a:srgbClr val="DDEBF7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048808" name="TextBox 13"/>
          <p:cNvSpPr txBox="1"/>
          <p:nvPr/>
        </p:nvSpPr>
        <p:spPr>
          <a:xfrm>
            <a:off x="6352032" y="3012948"/>
            <a:ext cx="1280160" cy="274320"/>
          </a:xfrm>
          <a:prstGeom prst="rect"/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1400">
                <a:solidFill>
                  <a:srgbClr val="1F4E79"/>
                </a:solidFill>
                <a:latin typeface="Arial"/>
              </a:rPr>
              <a:t>PAYMENT</a:t>
            </a:r>
          </a:p>
        </p:txBody>
      </p:sp>
      <p:sp>
        <p:nvSpPr>
          <p:cNvPr id="1048809" name="TextBox 14"/>
          <p:cNvSpPr txBox="1"/>
          <p:nvPr/>
        </p:nvSpPr>
        <p:spPr>
          <a:xfrm>
            <a:off x="7604760" y="2976372"/>
            <a:ext cx="3657600" cy="822960"/>
          </a:xfrm>
          <a:prstGeom prst="rect"/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050">
                <a:solidFill>
                  <a:srgbClr val="2D2D2D"/>
                </a:solidFill>
                <a:latin typeface="Arial"/>
              </a:rPr>
              <a:t>Payment_ID (PK), Payment_Date, Amount, Payment_Method, Payment_Status, Booking_ID (FK)</a:t>
            </a:r>
          </a:p>
        </p:txBody>
      </p:sp>
      <p:sp>
        <p:nvSpPr>
          <p:cNvPr id="1048810" name="Rounded Rectangle 15"/>
          <p:cNvSpPr/>
          <p:nvPr/>
        </p:nvSpPr>
        <p:spPr>
          <a:xfrm>
            <a:off x="701040" y="4274820"/>
            <a:ext cx="5303520" cy="1051560"/>
          </a:xfrm>
          <a:prstGeom prst="roundRect"/>
          <a:solidFill>
            <a:srgbClr val="DDEBF7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048811" name="TextBox 16"/>
          <p:cNvSpPr txBox="1"/>
          <p:nvPr/>
        </p:nvSpPr>
        <p:spPr>
          <a:xfrm>
            <a:off x="865632" y="4384548"/>
            <a:ext cx="1280160" cy="274320"/>
          </a:xfrm>
          <a:prstGeom prst="rect"/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1400">
                <a:solidFill>
                  <a:srgbClr val="1F4E79"/>
                </a:solidFill>
                <a:latin typeface="Arial"/>
              </a:rPr>
              <a:t>RETURN</a:t>
            </a:r>
          </a:p>
        </p:txBody>
      </p:sp>
      <p:sp>
        <p:nvSpPr>
          <p:cNvPr id="1048812" name="TextBox 17"/>
          <p:cNvSpPr txBox="1"/>
          <p:nvPr/>
        </p:nvSpPr>
        <p:spPr>
          <a:xfrm>
            <a:off x="2118360" y="4347972"/>
            <a:ext cx="3657600" cy="822960"/>
          </a:xfrm>
          <a:prstGeom prst="rect"/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050">
                <a:solidFill>
                  <a:srgbClr val="2D2D2D"/>
                </a:solidFill>
                <a:latin typeface="Arial"/>
              </a:rPr>
              <a:t>Return_ID (PK), Return_Date, Fuel_Level, Damage_Charges, Booking_ID (FK)</a:t>
            </a:r>
          </a:p>
        </p:txBody>
      </p:sp>
      <p:sp>
        <p:nvSpPr>
          <p:cNvPr id="1048813" name="Rounded Rectangle 18"/>
          <p:cNvSpPr/>
          <p:nvPr/>
        </p:nvSpPr>
        <p:spPr>
          <a:xfrm>
            <a:off x="6187440" y="4274820"/>
            <a:ext cx="5303520" cy="1051560"/>
          </a:xfrm>
          <a:prstGeom prst="roundRect"/>
          <a:solidFill>
            <a:srgbClr val="DDEBF7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048814" name="TextBox 19"/>
          <p:cNvSpPr txBox="1"/>
          <p:nvPr/>
        </p:nvSpPr>
        <p:spPr>
          <a:xfrm>
            <a:off x="6352032" y="4384548"/>
            <a:ext cx="1280160" cy="274320"/>
          </a:xfrm>
          <a:prstGeom prst="rect"/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1400">
                <a:solidFill>
                  <a:srgbClr val="1F4E79"/>
                </a:solidFill>
                <a:latin typeface="Arial"/>
              </a:rPr>
              <a:t>ADMIN</a:t>
            </a:r>
          </a:p>
        </p:txBody>
      </p:sp>
      <p:sp>
        <p:nvSpPr>
          <p:cNvPr id="1048815" name="TextBox 20"/>
          <p:cNvSpPr txBox="1"/>
          <p:nvPr/>
        </p:nvSpPr>
        <p:spPr>
          <a:xfrm>
            <a:off x="7604760" y="4347972"/>
            <a:ext cx="3657600" cy="822960"/>
          </a:xfrm>
          <a:prstGeom prst="rect"/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050">
                <a:solidFill>
                  <a:srgbClr val="2D2D2D"/>
                </a:solidFill>
                <a:latin typeface="Arial"/>
              </a:rPr>
              <a:t>Admin_ID (PK), Name, Username, Password, Contact_Number</a:t>
            </a:r>
          </a:p>
        </p:txBody>
      </p:sp>
      <p:sp>
        <p:nvSpPr>
          <p:cNvPr id="1048816" name="TextBox 45"/>
          <p:cNvSpPr txBox="1"/>
          <p:nvPr/>
        </p:nvSpPr>
        <p:spPr>
          <a:xfrm>
            <a:off x="504368" y="5488358"/>
            <a:ext cx="9063700" cy="52322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1400" lang="en-US">
                <a:solidFill>
                  <a:srgbClr val="2D2D2D"/>
                </a:solidFill>
                <a:latin typeface="Arial"/>
              </a:rPr>
              <a:t>PK = Primary Key     FK = Foreign Key     |     Foreign keys establish relationships between related tables.</a:t>
            </a:r>
          </a:p>
          <a:p>
            <a:endParaRPr dirty="0" sz="1400"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TextBox 1"/>
          <p:cNvSpPr txBox="1"/>
          <p:nvPr/>
        </p:nvSpPr>
        <p:spPr>
          <a:xfrm>
            <a:off x="813816" y="502920"/>
            <a:ext cx="10561320" cy="7772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3000">
                <a:solidFill>
                  <a:srgbClr val="C6521E"/>
                </a:solidFill>
                <a:latin typeface="Times New Roman"/>
              </a:rPr>
              <a:t>9. Expected Outcome</a:t>
            </a:r>
          </a:p>
        </p:txBody>
      </p:sp>
      <p:sp>
        <p:nvSpPr>
          <p:cNvPr id="1048818" name="TextBox 2"/>
          <p:cNvSpPr txBox="1"/>
          <p:nvPr/>
        </p:nvSpPr>
        <p:spPr>
          <a:xfrm>
            <a:off x="868680" y="1508760"/>
            <a:ext cx="10515600" cy="452628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Centralized database for customers, vehicles, bookings, payments and returns.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Faster vehicle availability checking and booking management.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Reduced duplicate data and improved consistency.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Easy retrieval of rental history and administrative information.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A strong foundation for SQL queries, normalization, reports and future application development.</a:t>
            </a:r>
          </a:p>
        </p:txBody>
      </p:sp>
      <p:sp>
        <p:nvSpPr>
          <p:cNvPr id="1048819" name="TextBox 4"/>
          <p:cNvSpPr txBox="1"/>
          <p:nvPr/>
        </p:nvSpPr>
        <p:spPr>
          <a:xfrm>
            <a:off x="3657600" y="6281928"/>
            <a:ext cx="109728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820" name="TextBox 5"/>
          <p:cNvSpPr txBox="1"/>
          <p:nvPr/>
        </p:nvSpPr>
        <p:spPr>
          <a:xfrm>
            <a:off x="5486400" y="6281928"/>
            <a:ext cx="365760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821" name="TextBox 6"/>
          <p:cNvSpPr txBox="1"/>
          <p:nvPr/>
        </p:nvSpPr>
        <p:spPr>
          <a:xfrm>
            <a:off x="10287000" y="6355080"/>
            <a:ext cx="73152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TextBox 1"/>
          <p:cNvSpPr txBox="1"/>
          <p:nvPr/>
        </p:nvSpPr>
        <p:spPr>
          <a:xfrm>
            <a:off x="813816" y="502920"/>
            <a:ext cx="10561320" cy="7772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3000">
                <a:solidFill>
                  <a:srgbClr val="C6521E"/>
                </a:solidFill>
                <a:latin typeface="Times New Roman"/>
              </a:rPr>
              <a:t>10. Conclusion</a:t>
            </a:r>
          </a:p>
        </p:txBody>
      </p:sp>
      <p:sp>
        <p:nvSpPr>
          <p:cNvPr id="1048823" name="TextBox 2"/>
          <p:cNvSpPr txBox="1"/>
          <p:nvPr/>
        </p:nvSpPr>
        <p:spPr>
          <a:xfrm>
            <a:off x="868680" y="1508760"/>
            <a:ext cx="10515600" cy="452628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The Vehicle Rental Management System provides a structured way to manage rental operations.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The ER model defines the required entities, attributes, keys, relationships and cardinalities.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Primary keys and foreign keys keep the database organized and maintain valid relationships.</a:t>
            </a:r>
          </a:p>
          <a:p>
            <a:pPr>
              <a:spcAft>
                <a:spcPts val="900"/>
              </a:spcAft>
            </a:pPr>
            <a:r>
              <a:rPr b="0" sz="2000">
                <a:solidFill>
                  <a:srgbClr val="000000"/>
                </a:solidFill>
                <a:latin typeface="Times New Roman"/>
              </a:rPr>
              <a:t>• The system can later be extended with online payments, mobile booking, notifications and analytics.</a:t>
            </a:r>
          </a:p>
        </p:txBody>
      </p:sp>
      <p:sp>
        <p:nvSpPr>
          <p:cNvPr id="1048824" name="TextBox 4"/>
          <p:cNvSpPr txBox="1"/>
          <p:nvPr/>
        </p:nvSpPr>
        <p:spPr>
          <a:xfrm>
            <a:off x="3657600" y="6281928"/>
            <a:ext cx="109728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DBMS</a:t>
            </a:r>
          </a:p>
        </p:txBody>
      </p:sp>
      <p:sp>
        <p:nvSpPr>
          <p:cNvPr id="1048825" name="TextBox 5"/>
          <p:cNvSpPr txBox="1"/>
          <p:nvPr/>
        </p:nvSpPr>
        <p:spPr>
          <a:xfrm>
            <a:off x="5486400" y="6281928"/>
            <a:ext cx="365760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ctr"/>
            <a:r>
              <a:rPr b="1" sz="1000">
                <a:solidFill>
                  <a:srgbClr val="6E6E6E"/>
                </a:solidFill>
                <a:latin typeface="Arial"/>
              </a:rPr>
              <a:t>Vehicle Rental Management System</a:t>
            </a:r>
          </a:p>
        </p:txBody>
      </p:sp>
      <p:sp>
        <p:nvSpPr>
          <p:cNvPr id="1048826" name="TextBox 6"/>
          <p:cNvSpPr txBox="1"/>
          <p:nvPr/>
        </p:nvSpPr>
        <p:spPr>
          <a:xfrm>
            <a:off x="10287000" y="6355080"/>
            <a:ext cx="731520" cy="320040"/>
          </a:xfrm>
          <a:prstGeom prst="rect"/>
          <a:noFill/>
        </p:spPr>
        <p:txBody>
          <a:bodyPr bIns="18288" lIns="18288" rIns="18288" tIns="18288" wrap="square">
            <a:spAutoFit/>
          </a:bodyPr>
          <a:p>
            <a:pPr algn="r"/>
            <a:r>
              <a:rPr b="1" sz="1000">
                <a:solidFill>
                  <a:srgbClr val="6E6E6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Title 1"/>
          <p:cNvSpPr>
            <a:spLocks noGrp="1"/>
          </p:cNvSpPr>
          <p:nvPr>
            <p:ph type="ctrTitle"/>
          </p:nvPr>
        </p:nvSpPr>
        <p:spPr>
          <a:xfrm>
            <a:off x="914400" y="2011680"/>
            <a:ext cx="10332720" cy="914400"/>
          </a:xfrm>
        </p:spPr>
        <p:txBody>
          <a:bodyPr/>
          <a:p>
            <a:pPr algn="ctr"/>
            <a:r>
              <a:rPr b="1" sz="4200">
                <a:solidFill>
                  <a:srgbClr val="C6521E"/>
                </a:solidFill>
                <a:latin typeface="Eras Bold ITC"/>
              </a:rPr>
              <a:t>THANK YOU</a:t>
            </a:r>
          </a:p>
        </p:txBody>
      </p:sp>
      <p:sp>
        <p:nvSpPr>
          <p:cNvPr id="1048828" name="Subtitle 2"/>
          <p:cNvSpPr>
            <a:spLocks noGrp="1"/>
          </p:cNvSpPr>
          <p:nvPr>
            <p:ph type="subTitle" idx="1"/>
          </p:nvPr>
        </p:nvSpPr>
        <p:spPr>
          <a:xfrm>
            <a:off x="914400" y="3246120"/>
            <a:ext cx="10332720" cy="731520"/>
          </a:xfrm>
        </p:spPr>
        <p:txBody>
          <a:bodyPr/>
          <a:p>
            <a:pPr algn="ctr"/>
            <a:r>
              <a:rPr b="0" sz="2400">
                <a:solidFill>
                  <a:srgbClr val="002060"/>
                </a:solidFill>
                <a:latin typeface="Tw Cen MT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admin</dc:creator>
  <cp:lastModifiedBy>Siva Sainath Yelisetti</cp:lastModifiedBy>
  <dcterms:created xsi:type="dcterms:W3CDTF">2019-12-13T16:50:00Z</dcterms:created>
  <dcterms:modified xsi:type="dcterms:W3CDTF">2026-10-07T03:01:46Z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b35b65a397b644e0b116b5bc71a47826_23</vt:lpwstr>
  </property>
  <property fmtid="{D5CDD505-2E9C-101B-9397-08002B2CF9AE}" pid="3" name="KSOProductBuildVer">
    <vt:lpwstr>1033-12.2.0.21931</vt:lpwstr>
  </property>
</Properties>
</file>